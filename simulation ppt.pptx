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63" r:id="rId2"/>
    <p:sldId id="264" r:id="rId3"/>
    <p:sldId id="277" r:id="rId4"/>
    <p:sldId id="282" r:id="rId5"/>
    <p:sldId id="281" r:id="rId6"/>
    <p:sldId id="280" r:id="rId7"/>
    <p:sldId id="279" r:id="rId8"/>
    <p:sldId id="268" r:id="rId9"/>
    <p:sldId id="278" r:id="rId10"/>
    <p:sldId id="270" r:id="rId11"/>
    <p:sldId id="283" r:id="rId12"/>
    <p:sldId id="2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04" autoAdjust="0"/>
  </p:normalViewPr>
  <p:slideViewPr>
    <p:cSldViewPr snapToGrid="0">
      <p:cViewPr varScale="1">
        <p:scale>
          <a:sx n="78" d="100"/>
          <a:sy n="78" d="100"/>
        </p:scale>
        <p:origin x="850" y="7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6C2A2-1A7F-412B-828D-1ADB7019DFCC}" type="datetimeFigureOut">
              <a:rPr lang="en-IN" smtClean="0"/>
              <a:t>07-11-2025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96A5D3-DE9C-4692-95DE-B7B987032D67}" type="slidenum">
              <a:rPr lang="en-IN" smtClean="0"/>
              <a:t>‹#›</a:t>
            </a:fld>
            <a:endParaRPr lang="en-IN"/>
          </a:p>
        </p:txBody>
      </p:sp>
    </p:spTree>
    <p:extLst>
      <p:ext uri="{BB962C8B-B14F-4D97-AF65-F5344CB8AC3E}">
        <p14:creationId xmlns:p14="http://schemas.microsoft.com/office/powerpoint/2010/main" val="3393406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38074-3A14-421C-B889-466018D63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943D8E-4C1F-4A31-91DB-6C814295C9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3E9F2C-0A98-4711-AF26-9759D916611B}"/>
              </a:ext>
            </a:extLst>
          </p:cNvPr>
          <p:cNvSpPr>
            <a:spLocks noGrp="1"/>
          </p:cNvSpPr>
          <p:nvPr>
            <p:ph type="dt" sz="half" idx="10"/>
          </p:nvPr>
        </p:nvSpPr>
        <p:spPr/>
        <p:txBody>
          <a:bodyPr/>
          <a:lstStyle/>
          <a:p>
            <a:fld id="{18FA7841-A83E-45FB-915E-C2B2A854DEE8}" type="datetime1">
              <a:rPr lang="en-IN" smtClean="0"/>
              <a:t>07-11-2025</a:t>
            </a:fld>
            <a:endParaRPr lang="en-IN"/>
          </a:p>
        </p:txBody>
      </p:sp>
      <p:sp>
        <p:nvSpPr>
          <p:cNvPr id="5" name="Footer Placeholder 4">
            <a:extLst>
              <a:ext uri="{FF2B5EF4-FFF2-40B4-BE49-F238E27FC236}">
                <a16:creationId xmlns:a16="http://schemas.microsoft.com/office/drawing/2014/main" id="{FC0A9973-9CBD-4F26-B0BB-76F34D3F53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D3948-470C-4E2C-91DE-3D908B042015}"/>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335079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428F0-C682-4B6E-BBF2-4F5867C46E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E2AB99-6D52-430F-9616-289FA477183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B81C7E-BAED-46BD-BFC8-B4098E4C6138}"/>
              </a:ext>
            </a:extLst>
          </p:cNvPr>
          <p:cNvSpPr>
            <a:spLocks noGrp="1"/>
          </p:cNvSpPr>
          <p:nvPr>
            <p:ph type="dt" sz="half" idx="10"/>
          </p:nvPr>
        </p:nvSpPr>
        <p:spPr/>
        <p:txBody>
          <a:bodyPr/>
          <a:lstStyle/>
          <a:p>
            <a:fld id="{459A3271-DA9E-4D93-BB2F-D658BA3E8C21}" type="datetime1">
              <a:rPr lang="en-IN" smtClean="0"/>
              <a:t>07-11-2025</a:t>
            </a:fld>
            <a:endParaRPr lang="en-IN"/>
          </a:p>
        </p:txBody>
      </p:sp>
      <p:sp>
        <p:nvSpPr>
          <p:cNvPr id="5" name="Footer Placeholder 4">
            <a:extLst>
              <a:ext uri="{FF2B5EF4-FFF2-40B4-BE49-F238E27FC236}">
                <a16:creationId xmlns:a16="http://schemas.microsoft.com/office/drawing/2014/main" id="{D2A3F52B-9E78-4116-8085-D3E6D4F930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091A-0EDF-4C22-9DBB-8D16EE2B1611}"/>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056599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CD11C-B524-4537-8838-6A4066675F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95357E-3A1C-4F58-BC1B-86FAC66D60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67596AC-2C41-4091-B9E0-C0E55539D7A6}"/>
              </a:ext>
            </a:extLst>
          </p:cNvPr>
          <p:cNvSpPr>
            <a:spLocks noGrp="1"/>
          </p:cNvSpPr>
          <p:nvPr>
            <p:ph type="dt" sz="half" idx="10"/>
          </p:nvPr>
        </p:nvSpPr>
        <p:spPr/>
        <p:txBody>
          <a:bodyPr/>
          <a:lstStyle/>
          <a:p>
            <a:fld id="{C4BE1F28-618E-4D99-A8A4-02C3F502EB1B}" type="datetime1">
              <a:rPr lang="en-IN" smtClean="0"/>
              <a:t>07-11-2025</a:t>
            </a:fld>
            <a:endParaRPr lang="en-IN"/>
          </a:p>
        </p:txBody>
      </p:sp>
      <p:sp>
        <p:nvSpPr>
          <p:cNvPr id="5" name="Footer Placeholder 4">
            <a:extLst>
              <a:ext uri="{FF2B5EF4-FFF2-40B4-BE49-F238E27FC236}">
                <a16:creationId xmlns:a16="http://schemas.microsoft.com/office/drawing/2014/main" id="{137F487C-8701-4D02-8E22-757B8A513F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34AC5C-586A-49E4-A861-14B64C08AF5B}"/>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4101586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1277-C03A-4085-BD6D-D2E804B724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DEF5DA-B66B-4DA1-86C1-4C84C4471A0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038C22-4913-4C69-A9F8-0FDF153A1BF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49A3FF-AE5D-4CC6-A8D0-B953F4C68934}"/>
              </a:ext>
            </a:extLst>
          </p:cNvPr>
          <p:cNvSpPr>
            <a:spLocks noGrp="1"/>
          </p:cNvSpPr>
          <p:nvPr>
            <p:ph type="dt" sz="half" idx="10"/>
          </p:nvPr>
        </p:nvSpPr>
        <p:spPr/>
        <p:txBody>
          <a:bodyPr/>
          <a:lstStyle/>
          <a:p>
            <a:fld id="{CA6F779E-664A-4413-9414-AE00A2B74053}" type="datetime1">
              <a:rPr lang="en-IN" smtClean="0"/>
              <a:t>07-11-2025</a:t>
            </a:fld>
            <a:endParaRPr lang="en-IN"/>
          </a:p>
        </p:txBody>
      </p:sp>
      <p:sp>
        <p:nvSpPr>
          <p:cNvPr id="6" name="Footer Placeholder 5">
            <a:extLst>
              <a:ext uri="{FF2B5EF4-FFF2-40B4-BE49-F238E27FC236}">
                <a16:creationId xmlns:a16="http://schemas.microsoft.com/office/drawing/2014/main" id="{523CF6D0-953D-4AA0-9497-044E0C817C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3F4B69-4C18-4261-9D5B-4308A48D9DA6}"/>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937663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D6B83-4E64-40EF-A730-6591CA7ECE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C0091D-CACE-4AF2-ABE5-24F75E53C6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703B4C3-DF12-4A3C-AAA9-B9D1A8E6447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1E76640-6E12-4DE7-B759-B9BC8B1CC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EA4D483-5142-4647-A7C4-9F4A2437F8D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7D09D9-3945-48E8-8A3B-4D66FA559F62}"/>
              </a:ext>
            </a:extLst>
          </p:cNvPr>
          <p:cNvSpPr>
            <a:spLocks noGrp="1"/>
          </p:cNvSpPr>
          <p:nvPr>
            <p:ph type="dt" sz="half" idx="10"/>
          </p:nvPr>
        </p:nvSpPr>
        <p:spPr/>
        <p:txBody>
          <a:bodyPr/>
          <a:lstStyle/>
          <a:p>
            <a:fld id="{BD1CDF21-75A4-486A-8453-0A0A9D6CD23E}" type="datetime1">
              <a:rPr lang="en-IN" smtClean="0"/>
              <a:t>07-11-2025</a:t>
            </a:fld>
            <a:endParaRPr lang="en-IN"/>
          </a:p>
        </p:txBody>
      </p:sp>
      <p:sp>
        <p:nvSpPr>
          <p:cNvPr id="8" name="Footer Placeholder 7">
            <a:extLst>
              <a:ext uri="{FF2B5EF4-FFF2-40B4-BE49-F238E27FC236}">
                <a16:creationId xmlns:a16="http://schemas.microsoft.com/office/drawing/2014/main" id="{43D97774-1746-4782-BDEE-ECE2C5CDF0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3712431-3E4B-4D75-AD83-21B1CE993642}"/>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3562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6BF7-FDF2-4A09-94E9-E569558D34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600397-7AFD-4A97-957B-E4889AE6E0A6}"/>
              </a:ext>
            </a:extLst>
          </p:cNvPr>
          <p:cNvSpPr>
            <a:spLocks noGrp="1"/>
          </p:cNvSpPr>
          <p:nvPr>
            <p:ph type="dt" sz="half" idx="10"/>
          </p:nvPr>
        </p:nvSpPr>
        <p:spPr/>
        <p:txBody>
          <a:bodyPr/>
          <a:lstStyle/>
          <a:p>
            <a:fld id="{EE028FF9-5943-4F13-954E-3594357B1229}" type="datetime1">
              <a:rPr lang="en-IN" smtClean="0"/>
              <a:t>07-11-2025</a:t>
            </a:fld>
            <a:endParaRPr lang="en-IN"/>
          </a:p>
        </p:txBody>
      </p:sp>
      <p:sp>
        <p:nvSpPr>
          <p:cNvPr id="4" name="Footer Placeholder 3">
            <a:extLst>
              <a:ext uri="{FF2B5EF4-FFF2-40B4-BE49-F238E27FC236}">
                <a16:creationId xmlns:a16="http://schemas.microsoft.com/office/drawing/2014/main" id="{858E1263-0080-4FBD-8E93-07551D703B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91DA27-A100-4DDE-A2DE-05D8C6C07D20}"/>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516074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7FC466-1027-4D29-8D88-9EA1823BCCA8}"/>
              </a:ext>
            </a:extLst>
          </p:cNvPr>
          <p:cNvSpPr>
            <a:spLocks noGrp="1"/>
          </p:cNvSpPr>
          <p:nvPr>
            <p:ph type="dt" sz="half" idx="10"/>
          </p:nvPr>
        </p:nvSpPr>
        <p:spPr/>
        <p:txBody>
          <a:bodyPr/>
          <a:lstStyle/>
          <a:p>
            <a:fld id="{F23ED147-051E-46C6-8AEB-97F1ABE5DC52}" type="datetime1">
              <a:rPr lang="en-IN" smtClean="0"/>
              <a:t>07-11-2025</a:t>
            </a:fld>
            <a:endParaRPr lang="en-IN"/>
          </a:p>
        </p:txBody>
      </p:sp>
      <p:sp>
        <p:nvSpPr>
          <p:cNvPr id="3" name="Footer Placeholder 2">
            <a:extLst>
              <a:ext uri="{FF2B5EF4-FFF2-40B4-BE49-F238E27FC236}">
                <a16:creationId xmlns:a16="http://schemas.microsoft.com/office/drawing/2014/main" id="{7BB20150-8494-40B6-BC79-AC34893F70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0275976-0206-4558-8E80-16D35DAF6DF4}"/>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2834913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9525B-CB2C-41DA-8124-552A9818D9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5A5B286-4D4E-4299-A82C-74A5E47F3F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146905-625C-4EBF-B61C-4C68C779A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43C4AE4-3F4C-4DE2-91DB-C3802AE192F1}"/>
              </a:ext>
            </a:extLst>
          </p:cNvPr>
          <p:cNvSpPr>
            <a:spLocks noGrp="1"/>
          </p:cNvSpPr>
          <p:nvPr>
            <p:ph type="dt" sz="half" idx="10"/>
          </p:nvPr>
        </p:nvSpPr>
        <p:spPr/>
        <p:txBody>
          <a:bodyPr/>
          <a:lstStyle/>
          <a:p>
            <a:fld id="{7621A8F3-38A8-4955-AF82-BD92AC94395C}" type="datetime1">
              <a:rPr lang="en-IN" smtClean="0"/>
              <a:t>07-11-2025</a:t>
            </a:fld>
            <a:endParaRPr lang="en-IN"/>
          </a:p>
        </p:txBody>
      </p:sp>
      <p:sp>
        <p:nvSpPr>
          <p:cNvPr id="6" name="Footer Placeholder 5">
            <a:extLst>
              <a:ext uri="{FF2B5EF4-FFF2-40B4-BE49-F238E27FC236}">
                <a16:creationId xmlns:a16="http://schemas.microsoft.com/office/drawing/2014/main" id="{23E0B247-32C8-4255-A4D6-4FF280EFA4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D7CD28-DC2D-46A8-93B6-DC433D541F03}"/>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1736718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737C-1BE7-4EF4-B690-DF5C4172B4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AC1308-2AD7-4CD6-BE7C-5BA5FBE0ED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EB9354D-7F76-4DA9-87D5-ACF6F4830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731E33F-053B-44B4-A35A-5544B9389BB6}"/>
              </a:ext>
            </a:extLst>
          </p:cNvPr>
          <p:cNvSpPr>
            <a:spLocks noGrp="1"/>
          </p:cNvSpPr>
          <p:nvPr>
            <p:ph type="dt" sz="half" idx="10"/>
          </p:nvPr>
        </p:nvSpPr>
        <p:spPr/>
        <p:txBody>
          <a:bodyPr/>
          <a:lstStyle/>
          <a:p>
            <a:fld id="{278D19D2-0F79-48EB-9C8E-D190446733C3}" type="datetime1">
              <a:rPr lang="en-IN" smtClean="0"/>
              <a:t>07-11-2025</a:t>
            </a:fld>
            <a:endParaRPr lang="en-IN"/>
          </a:p>
        </p:txBody>
      </p:sp>
      <p:sp>
        <p:nvSpPr>
          <p:cNvPr id="6" name="Footer Placeholder 5">
            <a:extLst>
              <a:ext uri="{FF2B5EF4-FFF2-40B4-BE49-F238E27FC236}">
                <a16:creationId xmlns:a16="http://schemas.microsoft.com/office/drawing/2014/main" id="{A45B8773-5E0C-4B3B-B0CC-F873A07154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064E78-11B9-4088-9BF9-F9265F60FCB0}"/>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287944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17EC3-934F-4DED-9BB5-F7D43F88AF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3493B0-DF3C-4C37-93B0-0A00E9D19FC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E07045-7522-411C-91CA-570B95F130E9}"/>
              </a:ext>
            </a:extLst>
          </p:cNvPr>
          <p:cNvSpPr>
            <a:spLocks noGrp="1"/>
          </p:cNvSpPr>
          <p:nvPr>
            <p:ph type="dt" sz="half" idx="10"/>
          </p:nvPr>
        </p:nvSpPr>
        <p:spPr/>
        <p:txBody>
          <a:bodyPr/>
          <a:lstStyle/>
          <a:p>
            <a:fld id="{E42C88CB-8631-436C-BD68-CB23A349A20F}" type="datetime1">
              <a:rPr lang="en-IN" smtClean="0"/>
              <a:t>07-11-2025</a:t>
            </a:fld>
            <a:endParaRPr lang="en-IN"/>
          </a:p>
        </p:txBody>
      </p:sp>
      <p:sp>
        <p:nvSpPr>
          <p:cNvPr id="5" name="Footer Placeholder 4">
            <a:extLst>
              <a:ext uri="{FF2B5EF4-FFF2-40B4-BE49-F238E27FC236}">
                <a16:creationId xmlns:a16="http://schemas.microsoft.com/office/drawing/2014/main" id="{AC249641-B849-4435-95F6-0150AD505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55BC8F-7BF0-4B9F-85E4-22A279C0C6DE}"/>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2963402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0AFFF5-2B01-4918-BE22-1D4F623865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CF4292-9A8A-4872-AA14-D158D356852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6FDD29-D222-4587-8D40-C2161E8D2FD4}"/>
              </a:ext>
            </a:extLst>
          </p:cNvPr>
          <p:cNvSpPr>
            <a:spLocks noGrp="1"/>
          </p:cNvSpPr>
          <p:nvPr>
            <p:ph type="dt" sz="half" idx="10"/>
          </p:nvPr>
        </p:nvSpPr>
        <p:spPr/>
        <p:txBody>
          <a:bodyPr/>
          <a:lstStyle/>
          <a:p>
            <a:fld id="{0D0506E1-E1ED-4518-AA0A-E709E90C0E9E}" type="datetime1">
              <a:rPr lang="en-IN" smtClean="0"/>
              <a:t>07-11-2025</a:t>
            </a:fld>
            <a:endParaRPr lang="en-IN"/>
          </a:p>
        </p:txBody>
      </p:sp>
      <p:sp>
        <p:nvSpPr>
          <p:cNvPr id="5" name="Footer Placeholder 4">
            <a:extLst>
              <a:ext uri="{FF2B5EF4-FFF2-40B4-BE49-F238E27FC236}">
                <a16:creationId xmlns:a16="http://schemas.microsoft.com/office/drawing/2014/main" id="{F80CE9DA-C930-4B0E-BFA3-A7296BE478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A04AE6-5D47-47F8-91D8-A943AE0EF964}"/>
              </a:ext>
            </a:extLst>
          </p:cNvPr>
          <p:cNvSpPr>
            <a:spLocks noGrp="1"/>
          </p:cNvSpPr>
          <p:nvPr>
            <p:ph type="sldNum" sz="quarter" idx="12"/>
          </p:nvPr>
        </p:nvSpPr>
        <p:spPr/>
        <p:txBody>
          <a:bodyPr/>
          <a:lstStyle/>
          <a:p>
            <a:fld id="{6ACC76E6-CFCB-4CAB-BEB1-C8D87FAAD8BB}" type="slidenum">
              <a:rPr lang="en-IN" smtClean="0"/>
              <a:t>‹#›</a:t>
            </a:fld>
            <a:endParaRPr lang="en-IN"/>
          </a:p>
        </p:txBody>
      </p:sp>
    </p:spTree>
    <p:extLst>
      <p:ext uri="{BB962C8B-B14F-4D97-AF65-F5344CB8AC3E}">
        <p14:creationId xmlns:p14="http://schemas.microsoft.com/office/powerpoint/2010/main" val="708385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419EC9-49C8-4E72-8554-723556DD61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9A1458-CCFC-4C79-B440-F6EE40685F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2F50B6-58D0-47E6-A8A6-4D9DFA8DE3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9D91EE-0B21-4202-9768-B2974CC6B6AE}" type="datetime1">
              <a:rPr lang="en-IN" smtClean="0"/>
              <a:t>07-11-2025</a:t>
            </a:fld>
            <a:endParaRPr lang="en-IN"/>
          </a:p>
        </p:txBody>
      </p:sp>
      <p:sp>
        <p:nvSpPr>
          <p:cNvPr id="5" name="Footer Placeholder 4">
            <a:extLst>
              <a:ext uri="{FF2B5EF4-FFF2-40B4-BE49-F238E27FC236}">
                <a16:creationId xmlns:a16="http://schemas.microsoft.com/office/drawing/2014/main" id="{4B02BDAE-2FA8-4914-B4A7-737DAB1F8F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1EEF26-D3FC-4AB4-86D4-4448D40289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CC76E6-CFCB-4CAB-BEB1-C8D87FAAD8BB}" type="slidenum">
              <a:rPr lang="en-IN" smtClean="0"/>
              <a:t>‹#›</a:t>
            </a:fld>
            <a:endParaRPr lang="en-IN"/>
          </a:p>
        </p:txBody>
      </p:sp>
    </p:spTree>
    <p:extLst>
      <p:ext uri="{BB962C8B-B14F-4D97-AF65-F5344CB8AC3E}">
        <p14:creationId xmlns:p14="http://schemas.microsoft.com/office/powerpoint/2010/main" val="3884441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7">
            <a:extLst>
              <a:ext uri="{FF2B5EF4-FFF2-40B4-BE49-F238E27FC236}">
                <a16:creationId xmlns:a16="http://schemas.microsoft.com/office/drawing/2014/main" id="{33A4F771-447A-4659-BDB2-FEED5B2BE204}"/>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2051" name="Rectangle 8">
            <a:extLst>
              <a:ext uri="{FF2B5EF4-FFF2-40B4-BE49-F238E27FC236}">
                <a16:creationId xmlns:a16="http://schemas.microsoft.com/office/drawing/2014/main" id="{87447245-16FB-43C5-8EE7-D614998C7231}"/>
              </a:ext>
            </a:extLst>
          </p:cNvPr>
          <p:cNvSpPr>
            <a:spLocks noChangeArrowheads="1"/>
          </p:cNvSpPr>
          <p:nvPr/>
        </p:nvSpPr>
        <p:spPr bwMode="auto">
          <a:xfrm>
            <a:off x="2382838" y="139700"/>
            <a:ext cx="958215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tabLst>
                <a:tab pos="1303338" algn="r"/>
                <a:tab pos="2865438" algn="ctr"/>
                <a:tab pos="5730875" algn="r"/>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1303338" algn="r"/>
                <a:tab pos="2865438" algn="ctr"/>
                <a:tab pos="5730875" algn="r"/>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1303338" algn="r"/>
                <a:tab pos="2865438" algn="ctr"/>
                <a:tab pos="5730875" algn="r"/>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1303338" algn="r"/>
                <a:tab pos="2865438" algn="ctr"/>
                <a:tab pos="5730875" algn="r"/>
              </a:tabLst>
              <a:defRPr>
                <a:solidFill>
                  <a:schemeClr val="tx1"/>
                </a:solidFill>
                <a:latin typeface="Calibri" panose="020F0502020204030204" pitchFamily="34" charset="0"/>
              </a:defRPr>
            </a:lvl9pPr>
          </a:lstStyle>
          <a:p>
            <a:pPr algn="ctr">
              <a:lnSpc>
                <a:spcPct val="100000"/>
              </a:lnSpc>
              <a:spcBef>
                <a:spcPct val="0"/>
              </a:spcBef>
              <a:buFontTx/>
              <a:buNone/>
            </a:pPr>
            <a:r>
              <a:rPr lang="en-US" altLang="en-US"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KOLHAPUR INSTITUTE OF TECHNOLOGY’S </a:t>
            </a:r>
          </a:p>
          <a:p>
            <a:pPr algn="ctr">
              <a:lnSpc>
                <a:spcPct val="100000"/>
              </a:lnSpc>
              <a:spcBef>
                <a:spcPct val="0"/>
              </a:spcBef>
              <a:buFontTx/>
              <a:buNone/>
            </a:pPr>
            <a:r>
              <a:rPr lang="en-US" altLang="en-US"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COLLEGE OF ENGINEERING KOLHAPUR </a:t>
            </a:r>
          </a:p>
          <a:p>
            <a:pPr algn="ctr">
              <a:lnSpc>
                <a:spcPct val="100000"/>
              </a:lnSpc>
              <a:spcBef>
                <a:spcPct val="0"/>
              </a:spcBef>
              <a:buFontTx/>
              <a:buNone/>
            </a:pPr>
            <a:r>
              <a:rPr lang="en-US" altLang="en-US"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(EMPOWERED AUTONOMOUS)</a:t>
            </a:r>
            <a:endParaRPr lang="en-US" altLang="en-US" sz="1400"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ct val="0"/>
              </a:spcBef>
              <a:buFont typeface="Arial" panose="020B0604020202020204" pitchFamily="34" charset="0"/>
              <a:buNone/>
            </a:pPr>
            <a:r>
              <a:rPr lang="en-US" altLang="en-US" sz="2400" b="1" dirty="0">
                <a:latin typeface="Times New Roman" panose="02020603050405020304" pitchFamily="18" charset="0"/>
                <a:ea typeface="Calibri" panose="020F0502020204030204" pitchFamily="34" charset="0"/>
                <a:cs typeface="Times New Roman" panose="02020603050405020304" pitchFamily="18" charset="0"/>
              </a:rPr>
              <a:t>Department of Electronics and Telecommunication Engineering  </a:t>
            </a:r>
            <a:endParaRPr lang="en-US" alt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Subtitle 2">
            <a:extLst>
              <a:ext uri="{FF2B5EF4-FFF2-40B4-BE49-F238E27FC236}">
                <a16:creationId xmlns:a16="http://schemas.microsoft.com/office/drawing/2014/main" id="{266C8BD1-E215-4AC2-8E1C-05D670755C53}"/>
              </a:ext>
            </a:extLst>
          </p:cNvPr>
          <p:cNvSpPr txBox="1">
            <a:spLocks/>
          </p:cNvSpPr>
          <p:nvPr/>
        </p:nvSpPr>
        <p:spPr>
          <a:xfrm>
            <a:off x="1700213" y="3171826"/>
            <a:ext cx="10029825" cy="3686174"/>
          </a:xfrm>
          <a:prstGeom prst="rect">
            <a:avLst/>
          </a:prstGeom>
        </p:spPr>
        <p:txBody>
          <a:bodyPr>
            <a:normAutofit fontScale="47500" lnSpcReduction="20000"/>
          </a:bodyPr>
          <a:lstStyle/>
          <a:p>
            <a:pPr marL="274320" indent="-274320" eaLnBrk="1" fontAlgn="auto" hangingPunct="1">
              <a:spcBef>
                <a:spcPct val="20000"/>
              </a:spcBef>
              <a:spcAft>
                <a:spcPts val="0"/>
              </a:spcAft>
              <a:buClr>
                <a:schemeClr val="accent3"/>
              </a:buClr>
              <a:buSzPct val="95000"/>
              <a:defRPr/>
            </a:pPr>
            <a:endParaRPr lang="en-US" sz="2600" b="1" u="sng"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sz="4500" b="1" dirty="0">
                <a:latin typeface="Times New Roman" panose="02020603050405020304" pitchFamily="18" charset="0"/>
                <a:cs typeface="Times New Roman" panose="02020603050405020304" pitchFamily="18" charset="0"/>
              </a:rPr>
              <a:t>                                                             </a:t>
            </a:r>
            <a:r>
              <a:rPr lang="en-US" sz="4500" b="1" u="sng" dirty="0">
                <a:latin typeface="Times New Roman" panose="02020603050405020304" pitchFamily="18" charset="0"/>
                <a:cs typeface="Times New Roman" panose="02020603050405020304" pitchFamily="18" charset="0"/>
              </a:rPr>
              <a:t>Guide:</a:t>
            </a:r>
            <a:r>
              <a:rPr lang="en-US" sz="4500" b="1" dirty="0">
                <a:latin typeface="Times New Roman" panose="02020603050405020304" pitchFamily="18" charset="0"/>
                <a:cs typeface="Times New Roman" panose="02020603050405020304" pitchFamily="18" charset="0"/>
              </a:rPr>
              <a:t>	</a:t>
            </a:r>
          </a:p>
          <a:p>
            <a:pPr marL="274320" indent="-274320" eaLnBrk="1" fontAlgn="auto" hangingPunct="1">
              <a:spcBef>
                <a:spcPct val="20000"/>
              </a:spcBef>
              <a:spcAft>
                <a:spcPts val="0"/>
              </a:spcAft>
              <a:buClr>
                <a:schemeClr val="accent3"/>
              </a:buClr>
              <a:buSzPct val="95000"/>
              <a:defRPr/>
            </a:pPr>
            <a:r>
              <a:rPr lang="en-US" sz="4500" b="1" dirty="0">
                <a:latin typeface="Times New Roman" panose="02020603050405020304" pitchFamily="18" charset="0"/>
                <a:cs typeface="Times New Roman" panose="02020603050405020304" pitchFamily="18" charset="0"/>
              </a:rPr>
              <a:t>                                                     Dr. M. S. Chavan		                              </a:t>
            </a:r>
          </a:p>
          <a:p>
            <a:pPr marL="274320" indent="-274320" eaLnBrk="1" fontAlgn="auto" hangingPunct="1">
              <a:spcBef>
                <a:spcPct val="20000"/>
              </a:spcBef>
              <a:spcAft>
                <a:spcPts val="0"/>
              </a:spcAft>
              <a:buClr>
                <a:schemeClr val="accent3"/>
              </a:buClr>
              <a:buSzPct val="95000"/>
              <a:defRPr/>
            </a:pPr>
            <a:r>
              <a:rPr lang="en-US" sz="4500" b="1" dirty="0">
                <a:latin typeface="Times New Roman" panose="02020603050405020304" pitchFamily="18" charset="0"/>
                <a:cs typeface="Times New Roman" panose="02020603050405020304" pitchFamily="18" charset="0"/>
              </a:rPr>
              <a:t>	</a:t>
            </a:r>
            <a:r>
              <a:rPr lang="en-US" sz="4500" b="1" i="1" dirty="0">
                <a:latin typeface="Times New Roman" panose="02020603050405020304" pitchFamily="18" charset="0"/>
                <a:cs typeface="Times New Roman" panose="02020603050405020304" pitchFamily="18" charset="0"/>
              </a:rPr>
              <a:t>        		                  </a:t>
            </a:r>
          </a:p>
          <a:p>
            <a:pPr algn="ctr" eaLnBrk="1" fontAlgn="auto" hangingPunct="1">
              <a:spcBef>
                <a:spcPct val="20000"/>
              </a:spcBef>
              <a:spcAft>
                <a:spcPts val="0"/>
              </a:spcAft>
              <a:buClr>
                <a:schemeClr val="accent3"/>
              </a:buClr>
              <a:buSzPct val="95000"/>
              <a:defRPr/>
            </a:pPr>
            <a:r>
              <a:rPr lang="en-US" sz="4500" b="1" u="sng" dirty="0">
                <a:latin typeface="Times New Roman" panose="02020603050405020304" pitchFamily="18" charset="0"/>
                <a:cs typeface="Times New Roman" panose="02020603050405020304" pitchFamily="18" charset="0"/>
              </a:rPr>
              <a:t>Project Group No: 24_</a:t>
            </a:r>
          </a:p>
          <a:p>
            <a:pPr algn="ctr" eaLnBrk="1" fontAlgn="auto" hangingPunct="1">
              <a:spcBef>
                <a:spcPct val="20000"/>
              </a:spcBef>
              <a:spcAft>
                <a:spcPts val="0"/>
              </a:spcAft>
              <a:buClr>
                <a:schemeClr val="accent3"/>
              </a:buClr>
              <a:buSzPct val="95000"/>
              <a:defRPr/>
            </a:pPr>
            <a:endParaRPr lang="en-US" sz="4500" b="1" u="sng" dirty="0">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r>
              <a:rPr lang="en-US" sz="4500" b="1" u="sng" dirty="0">
                <a:latin typeface="Times New Roman" panose="02020603050405020304" pitchFamily="18" charset="0"/>
                <a:cs typeface="Times New Roman" panose="02020603050405020304" pitchFamily="18" charset="0"/>
              </a:rPr>
              <a:t>Name of </a:t>
            </a:r>
            <a:r>
              <a:rPr lang="en-US" sz="4500" b="1" u="sng" dirty="0" err="1">
                <a:latin typeface="Times New Roman" panose="02020603050405020304" pitchFamily="18" charset="0"/>
                <a:cs typeface="Times New Roman" panose="02020603050405020304" pitchFamily="18" charset="0"/>
              </a:rPr>
              <a:t>Projectees</a:t>
            </a:r>
            <a:endParaRPr lang="en-US" sz="4500" b="1" u="sng" dirty="0">
              <a:latin typeface="Times New Roman" panose="02020603050405020304" pitchFamily="18" charset="0"/>
              <a:cs typeface="Times New Roman" panose="02020603050405020304" pitchFamily="18" charset="0"/>
            </a:endParaRPr>
          </a:p>
          <a:p>
            <a:pPr algn="ctr" eaLnBrk="1" fontAlgn="auto" hangingPunct="1">
              <a:spcBef>
                <a:spcPct val="20000"/>
              </a:spcBef>
              <a:spcAft>
                <a:spcPts val="0"/>
              </a:spcAft>
              <a:buClr>
                <a:schemeClr val="accent3"/>
              </a:buClr>
              <a:buSzPct val="95000"/>
              <a:defRPr/>
            </a:pPr>
            <a:endParaRPr lang="en-US" sz="4500" b="1" u="sng"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sz="4500" b="1" i="1" dirty="0">
                <a:latin typeface="Times New Roman" panose="02020603050405020304" pitchFamily="18" charset="0"/>
                <a:cs typeface="Times New Roman" panose="02020603050405020304" pitchFamily="18" charset="0"/>
              </a:rPr>
              <a:t>              </a:t>
            </a:r>
            <a:r>
              <a:rPr lang="en-US" sz="4500" b="1" i="1" dirty="0" err="1">
                <a:latin typeface="Times New Roman" panose="02020603050405020304" pitchFamily="18" charset="0"/>
                <a:cs typeface="Times New Roman" panose="02020603050405020304" pitchFamily="18" charset="0"/>
              </a:rPr>
              <a:t>Ballaleshwar</a:t>
            </a:r>
            <a:r>
              <a:rPr lang="en-US" sz="4500" b="1" i="1" dirty="0">
                <a:latin typeface="Times New Roman" panose="02020603050405020304" pitchFamily="18" charset="0"/>
                <a:cs typeface="Times New Roman" panose="02020603050405020304" pitchFamily="18" charset="0"/>
              </a:rPr>
              <a:t> Deshpande                                          Akash </a:t>
            </a:r>
            <a:r>
              <a:rPr lang="en-US" sz="4500" b="1" i="1" dirty="0" err="1">
                <a:latin typeface="Times New Roman" panose="02020603050405020304" pitchFamily="18" charset="0"/>
                <a:cs typeface="Times New Roman" panose="02020603050405020304" pitchFamily="18" charset="0"/>
              </a:rPr>
              <a:t>Meherkar</a:t>
            </a:r>
            <a:endParaRPr lang="en-US" sz="4500" b="1" i="1"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sz="4500" b="1" i="1" dirty="0">
                <a:latin typeface="Times New Roman" panose="02020603050405020304" pitchFamily="18" charset="0"/>
                <a:cs typeface="Times New Roman" panose="02020603050405020304" pitchFamily="18" charset="0"/>
              </a:rPr>
              <a:t>              Vaishnavi Patil                                                         Anuradha Jadhav</a:t>
            </a:r>
          </a:p>
          <a:p>
            <a:pPr marL="274320" indent="-274320" eaLnBrk="1" fontAlgn="auto" hangingPunct="1">
              <a:spcBef>
                <a:spcPct val="20000"/>
              </a:spcBef>
              <a:spcAft>
                <a:spcPts val="0"/>
              </a:spcAft>
              <a:buClr>
                <a:schemeClr val="accent3"/>
              </a:buClr>
              <a:buSzPct val="95000"/>
              <a:defRPr/>
            </a:pPr>
            <a:endParaRPr lang="en-US" sz="2600" b="1" i="1" dirty="0">
              <a:latin typeface="Times New Roman" panose="02020603050405020304" pitchFamily="18" charset="0"/>
              <a:cs typeface="Times New Roman" panose="02020603050405020304" pitchFamily="18" charset="0"/>
            </a:endParaRPr>
          </a:p>
          <a:p>
            <a:pPr marL="274320" indent="-274320" eaLnBrk="1" fontAlgn="auto" hangingPunct="1">
              <a:spcBef>
                <a:spcPct val="20000"/>
              </a:spcBef>
              <a:spcAft>
                <a:spcPts val="0"/>
              </a:spcAft>
              <a:buClr>
                <a:schemeClr val="accent3"/>
              </a:buClr>
              <a:buSzPct val="95000"/>
              <a:defRPr/>
            </a:pPr>
            <a:r>
              <a:rPr lang="en-US" sz="4500" b="1" dirty="0">
                <a:latin typeface="Times New Roman" pitchFamily="18" charset="0"/>
                <a:cs typeface="Times New Roman" pitchFamily="18" charset="0"/>
              </a:rPr>
              <a:t>     </a:t>
            </a:r>
            <a:endParaRPr lang="en-US" sz="2600" dirty="0">
              <a:latin typeface="Times New Roman" panose="02020603050405020304" pitchFamily="18" charset="0"/>
              <a:cs typeface="Times New Roman" panose="02020603050405020304" pitchFamily="18" charset="0"/>
            </a:endParaRPr>
          </a:p>
        </p:txBody>
      </p:sp>
      <p:sp>
        <p:nvSpPr>
          <p:cNvPr id="2053" name="Rectangle 5">
            <a:extLst>
              <a:ext uri="{FF2B5EF4-FFF2-40B4-BE49-F238E27FC236}">
                <a16:creationId xmlns:a16="http://schemas.microsoft.com/office/drawing/2014/main" id="{13341CA2-CE21-408C-A90D-494B7FE36A37}"/>
              </a:ext>
            </a:extLst>
          </p:cNvPr>
          <p:cNvSpPr txBox="1">
            <a:spLocks noChangeArrowheads="1"/>
          </p:cNvSpPr>
          <p:nvPr/>
        </p:nvSpPr>
        <p:spPr bwMode="auto">
          <a:xfrm>
            <a:off x="2382838" y="2273713"/>
            <a:ext cx="8229600" cy="75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buFont typeface="Wingdings 2" panose="05020102010507070707" pitchFamily="18" charset="2"/>
              <a:buNone/>
            </a:pPr>
            <a:r>
              <a:rPr lang="en-US" altLang="en-US" sz="2400" b="1" i="1" dirty="0">
                <a:solidFill>
                  <a:srgbClr val="FF0000"/>
                </a:solidFill>
                <a:latin typeface="Arial Black" panose="020B0A04020102020204" pitchFamily="34" charset="0"/>
                <a:cs typeface="Aharoni" panose="02010803020104030203" pitchFamily="2" charset="-79"/>
              </a:rPr>
              <a:t> IoT Based Incident Detection And Path Tracking System With GSM Alert </a:t>
            </a:r>
            <a:endParaRPr lang="en-US" altLang="en-US" sz="2400" b="1" i="1" u="sng" dirty="0">
              <a:solidFill>
                <a:srgbClr val="FF0000"/>
              </a:solidFill>
              <a:latin typeface="Castellar" panose="020A0402060406010301" pitchFamily="18" charset="0"/>
            </a:endParaRPr>
          </a:p>
        </p:txBody>
      </p:sp>
      <p:pic>
        <p:nvPicPr>
          <p:cNvPr id="2054" name="Picture 8">
            <a:extLst>
              <a:ext uri="{FF2B5EF4-FFF2-40B4-BE49-F238E27FC236}">
                <a16:creationId xmlns:a16="http://schemas.microsoft.com/office/drawing/2014/main" id="{6DCC6249-13E5-423D-8E96-6A23032667D9}"/>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38138" y="228600"/>
            <a:ext cx="27241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6019115E-4342-43D0-B530-9AC94F73B2CD}"/>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8" name="Title 1">
            <a:extLst>
              <a:ext uri="{FF2B5EF4-FFF2-40B4-BE49-F238E27FC236}">
                <a16:creationId xmlns:a16="http://schemas.microsoft.com/office/drawing/2014/main" id="{9B599685-530F-44AD-8D73-BDD78FBB04AB}"/>
              </a:ext>
            </a:extLst>
          </p:cNvPr>
          <p:cNvSpPr txBox="1">
            <a:spLocks/>
          </p:cNvSpPr>
          <p:nvPr/>
        </p:nvSpPr>
        <p:spPr bwMode="auto">
          <a:xfrm>
            <a:off x="428625" y="5343525"/>
            <a:ext cx="104457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endParaRPr lang="en-US" sz="3200" b="1" dirty="0">
              <a:latin typeface="Times New Roman" pitchFamily="18" charset="0"/>
              <a:cs typeface="Times New Roman" pitchFamily="18" charset="0"/>
            </a:endParaRPr>
          </a:p>
        </p:txBody>
      </p:sp>
      <p:sp>
        <p:nvSpPr>
          <p:cNvPr id="10" name="Content Placeholder 2">
            <a:extLst>
              <a:ext uri="{FF2B5EF4-FFF2-40B4-BE49-F238E27FC236}">
                <a16:creationId xmlns:a16="http://schemas.microsoft.com/office/drawing/2014/main" id="{D084C8A3-38EF-4C4F-A1D7-FF72E5D8F5AC}"/>
              </a:ext>
            </a:extLst>
          </p:cNvPr>
          <p:cNvSpPr txBox="1">
            <a:spLocks/>
          </p:cNvSpPr>
          <p:nvPr/>
        </p:nvSpPr>
        <p:spPr bwMode="auto">
          <a:xfrm>
            <a:off x="428625" y="1070896"/>
            <a:ext cx="10445750" cy="412115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orm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Introduction.</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Components Simulation.</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Components Prices. </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Objectives.</a:t>
            </a:r>
          </a:p>
          <a:p>
            <a:pPr marL="274320" indent="-274320" algn="just" eaLnBrk="1" fontAlgn="auto" hangingPunct="1">
              <a:spcAft>
                <a:spcPts val="0"/>
              </a:spcAft>
              <a:buClr>
                <a:schemeClr val="accent3"/>
              </a:buClr>
              <a:buFont typeface="Wingdings 2"/>
              <a:buChar char=""/>
              <a:defRPr/>
            </a:pPr>
            <a:r>
              <a:rPr lang="en-US" dirty="0">
                <a:latin typeface="Times New Roman" pitchFamily="18" charset="0"/>
                <a:cs typeface="Times New Roman" pitchFamily="18" charset="0"/>
              </a:rPr>
              <a:t>Methodology with Block/Layout Diagram.</a:t>
            </a:r>
          </a:p>
        </p:txBody>
      </p:sp>
      <p:sp>
        <p:nvSpPr>
          <p:cNvPr id="12" name="Title 1">
            <a:extLst>
              <a:ext uri="{FF2B5EF4-FFF2-40B4-BE49-F238E27FC236}">
                <a16:creationId xmlns:a16="http://schemas.microsoft.com/office/drawing/2014/main" id="{A58F7FE7-ABED-4263-9CBA-C64B058CA31D}"/>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A0272690-1D96-49FA-A66D-15B3F54BA429}"/>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4099" name="TextBox 1">
            <a:extLst>
              <a:ext uri="{FF2B5EF4-FFF2-40B4-BE49-F238E27FC236}">
                <a16:creationId xmlns:a16="http://schemas.microsoft.com/office/drawing/2014/main" id="{21A2CF2A-AC31-4F04-B358-425B642AB2EF}"/>
              </a:ext>
            </a:extLst>
          </p:cNvPr>
          <p:cNvSpPr txBox="1">
            <a:spLocks noChangeArrowheads="1"/>
          </p:cNvSpPr>
          <p:nvPr/>
        </p:nvSpPr>
        <p:spPr bwMode="auto">
          <a:xfrm>
            <a:off x="1003761" y="1620299"/>
            <a:ext cx="10184478" cy="3617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buNone/>
            </a:pPr>
            <a:r>
              <a:rPr lang="en-US" sz="1800" dirty="0">
                <a:latin typeface="Times New Roman" panose="02020603050405020304" pitchFamily="18" charset="0"/>
                <a:cs typeface="Times New Roman" panose="02020603050405020304" pitchFamily="18" charset="0"/>
              </a:rPr>
              <a:t>Accidental falls and disorientation are among the most common risks faced by elderly people and patients with mobility issues. Delay in providing timely help after such incidents can lead to serious health complications. Existing solutions such as smartwatches and health monitoring devices are often costly and not easily accessible to everyone.</a:t>
            </a:r>
          </a:p>
          <a:p>
            <a:pPr algn="just">
              <a:buNone/>
            </a:pPr>
            <a:r>
              <a:rPr lang="en-US" sz="1800" dirty="0">
                <a:latin typeface="Times New Roman" panose="02020603050405020304" pitchFamily="18" charset="0"/>
                <a:cs typeface="Times New Roman" panose="02020603050405020304" pitchFamily="18" charset="0"/>
              </a:rPr>
              <a:t>This project presents an </a:t>
            </a:r>
            <a:r>
              <a:rPr lang="en-US" sz="1800" b="1" dirty="0" err="1">
                <a:latin typeface="Times New Roman" panose="02020603050405020304" pitchFamily="18" charset="0"/>
                <a:cs typeface="Times New Roman" panose="02020603050405020304" pitchFamily="18" charset="0"/>
              </a:rPr>
              <a:t>IoT</a:t>
            </a:r>
            <a:r>
              <a:rPr lang="en-US" sz="1800" b="1" dirty="0">
                <a:latin typeface="Times New Roman" panose="02020603050405020304" pitchFamily="18" charset="0"/>
                <a:cs typeface="Times New Roman" panose="02020603050405020304" pitchFamily="18" charset="0"/>
              </a:rPr>
              <a:t>-based Incident Detection and Path Tracking System with GSM Alert</a:t>
            </a:r>
            <a:r>
              <a:rPr lang="en-US" sz="1800" dirty="0">
                <a:latin typeface="Times New Roman" panose="02020603050405020304" pitchFamily="18" charset="0"/>
                <a:cs typeface="Times New Roman" panose="02020603050405020304" pitchFamily="18" charset="0"/>
              </a:rPr>
              <a:t>, designed as a low-cost, wearable safety system. The device continuously monitors the user’s motion, detects accidental impacts using an accelerometer and gyroscope, and obtains the user’s live location through GPS. In the event of an accident, it automatically sends an SMS alert with the location to a caregiver via GSM. Additionally, the system logs the user’s walking path and provides guidance to retrace their steps using navigation assistance.</a:t>
            </a:r>
          </a:p>
          <a:p>
            <a:pPr algn="just">
              <a:buNone/>
            </a:pPr>
            <a:r>
              <a:rPr lang="en-US" sz="1800" dirty="0">
                <a:latin typeface="Times New Roman" panose="02020603050405020304" pitchFamily="18" charset="0"/>
                <a:cs typeface="Times New Roman" panose="02020603050405020304" pitchFamily="18" charset="0"/>
              </a:rPr>
              <a:t>This solution ensures quick communication in emergencies, improves safety for vulnerable individuals, and offers an affordable, portable, and practical device for healthcare and personal monitoring applications.</a:t>
            </a:r>
          </a:p>
          <a:p>
            <a:pPr algn="just">
              <a:lnSpc>
                <a:spcPct val="100000"/>
              </a:lnSpc>
              <a:spcBef>
                <a:spcPct val="0"/>
              </a:spcBef>
              <a:buFontTx/>
              <a:buNone/>
            </a:pPr>
            <a:r>
              <a:rPr lang="en-US" altLang="en-US" sz="1800" dirty="0">
                <a:latin typeface="Times New Roman" panose="02020603050405020304" pitchFamily="18" charset="0"/>
                <a:cs typeface="Times New Roman" panose="02020603050405020304" pitchFamily="18" charset="0"/>
              </a:rPr>
              <a:t> </a:t>
            </a:r>
          </a:p>
        </p:txBody>
      </p:sp>
      <p:sp>
        <p:nvSpPr>
          <p:cNvPr id="14" name="Title 1">
            <a:extLst>
              <a:ext uri="{FF2B5EF4-FFF2-40B4-BE49-F238E27FC236}">
                <a16:creationId xmlns:a16="http://schemas.microsoft.com/office/drawing/2014/main" id="{B4FB8D16-94BB-4E73-B011-EA3F64E3D09F}"/>
              </a:ext>
            </a:extLst>
          </p:cNvPr>
          <p:cNvSpPr txBox="1">
            <a:spLocks/>
          </p:cNvSpPr>
          <p:nvPr/>
        </p:nvSpPr>
        <p:spPr bwMode="auto">
          <a:xfrm>
            <a:off x="0" y="-9832"/>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81B3F-AB25-1691-44AB-DBC260AC4EDF}"/>
            </a:ext>
          </a:extLst>
        </p:cNvPr>
        <p:cNvGrpSpPr/>
        <p:nvPr/>
      </p:nvGrpSpPr>
      <p:grpSpPr>
        <a:xfrm>
          <a:off x="0" y="0"/>
          <a:ext cx="0" cy="0"/>
          <a:chOff x="0" y="0"/>
          <a:chExt cx="0" cy="0"/>
        </a:xfrm>
      </p:grpSpPr>
      <p:sp>
        <p:nvSpPr>
          <p:cNvPr id="3074" name="Rectangle 7">
            <a:extLst>
              <a:ext uri="{FF2B5EF4-FFF2-40B4-BE49-F238E27FC236}">
                <a16:creationId xmlns:a16="http://schemas.microsoft.com/office/drawing/2014/main" id="{0D67CD08-BA9D-79CF-FC57-E590411B927B}"/>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 name="Title 1">
            <a:extLst>
              <a:ext uri="{FF2B5EF4-FFF2-40B4-BE49-F238E27FC236}">
                <a16:creationId xmlns:a16="http://schemas.microsoft.com/office/drawing/2014/main" id="{0F49AA18-E844-46B4-6947-924DE9E50E4B}"/>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Components Simulation </a:t>
            </a:r>
          </a:p>
        </p:txBody>
      </p:sp>
      <p:sp>
        <p:nvSpPr>
          <p:cNvPr id="2" name="TextBox 1">
            <a:extLst>
              <a:ext uri="{FF2B5EF4-FFF2-40B4-BE49-F238E27FC236}">
                <a16:creationId xmlns:a16="http://schemas.microsoft.com/office/drawing/2014/main" id="{972EEBCB-19E7-4959-AA3C-D0E9F662C622}"/>
              </a:ext>
            </a:extLst>
          </p:cNvPr>
          <p:cNvSpPr txBox="1"/>
          <p:nvPr/>
        </p:nvSpPr>
        <p:spPr>
          <a:xfrm>
            <a:off x="275303" y="924233"/>
            <a:ext cx="11235978" cy="6463308"/>
          </a:xfrm>
          <a:prstGeom prst="rect">
            <a:avLst/>
          </a:prstGeom>
          <a:noFill/>
        </p:spPr>
        <p:txBody>
          <a:bodyPr wrap="square" rtlCol="0">
            <a:spAutoFit/>
          </a:bodyPr>
          <a:lstStyle/>
          <a:p>
            <a:pPr marL="285750" indent="-285750" algn="just">
              <a:buFont typeface="Wingdings" panose="05000000000000000000" pitchFamily="2" charset="2"/>
              <a:buChar char="v"/>
            </a:pPr>
            <a:r>
              <a:rPr lang="en-US" b="1" dirty="0" err="1">
                <a:latin typeface="Times New Roman" panose="02020603050405020304" pitchFamily="18" charset="0"/>
                <a:cs typeface="Times New Roman" panose="02020603050405020304" pitchFamily="18" charset="0"/>
              </a:rPr>
              <a:t>Wokwi</a:t>
            </a:r>
            <a:r>
              <a:rPr lang="en-US" b="1" dirty="0">
                <a:latin typeface="Times New Roman" panose="02020603050405020304" pitchFamily="18" charset="0"/>
                <a:cs typeface="Times New Roman" panose="02020603050405020304" pitchFamily="18" charset="0"/>
              </a:rPr>
              <a:t> Simulation Platform</a:t>
            </a:r>
          </a:p>
          <a:p>
            <a:pPr lvl="1" algn="just"/>
            <a:r>
              <a:rPr lang="en-US" b="1" dirty="0" err="1">
                <a:latin typeface="Times New Roman" panose="02020603050405020304" pitchFamily="18" charset="0"/>
                <a:cs typeface="Times New Roman" panose="02020603050405020304" pitchFamily="18" charset="0"/>
              </a:rPr>
              <a:t>Wokwi</a:t>
            </a:r>
            <a:r>
              <a:rPr lang="en-US" dirty="0">
                <a:latin typeface="Times New Roman" panose="02020603050405020304" pitchFamily="18" charset="0"/>
                <a:cs typeface="Times New Roman" panose="02020603050405020304" pitchFamily="18" charset="0"/>
              </a:rPr>
              <a:t> is an online IoT and embedded systems simulator that allows users to design, connect, and run microcontroller projects virtually — without any physical hardware.</a:t>
            </a:r>
          </a:p>
          <a:p>
            <a:pPr marL="285750" indent="-285750" algn="just">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Simulated Components:</a:t>
            </a:r>
            <a:endParaRPr lang="en-IN"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MPU6050</a:t>
            </a:r>
            <a:r>
              <a:rPr lang="en-IN" dirty="0">
                <a:latin typeface="Times New Roman" panose="02020603050405020304" pitchFamily="18" charset="0"/>
                <a:cs typeface="Times New Roman" panose="02020603050405020304" pitchFamily="18" charset="0"/>
              </a:rPr>
              <a:t> – Accelerometer + Gyroscope sensor simulated to detect motion/fall.</a:t>
            </a:r>
          </a:p>
          <a:p>
            <a:pPr marL="742950" lvl="1"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SIM800L (GSM Module)</a:t>
            </a:r>
            <a:r>
              <a:rPr lang="en-IN" dirty="0">
                <a:latin typeface="Times New Roman" panose="02020603050405020304" pitchFamily="18" charset="0"/>
                <a:cs typeface="Times New Roman" panose="02020603050405020304" pitchFamily="18" charset="0"/>
              </a:rPr>
              <a:t> – Used for sending SMS alerts through virtual serial communication.</a:t>
            </a:r>
          </a:p>
          <a:p>
            <a:pPr marL="742950" lvl="1"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GPS Module (NEO-6M)</a:t>
            </a:r>
            <a:r>
              <a:rPr lang="en-IN" dirty="0">
                <a:latin typeface="Times New Roman" panose="02020603050405020304" pitchFamily="18" charset="0"/>
                <a:cs typeface="Times New Roman" panose="02020603050405020304" pitchFamily="18" charset="0"/>
              </a:rPr>
              <a:t> – Simulated to provide live latitude and longitude coordinates for location tracking.</a:t>
            </a:r>
          </a:p>
          <a:p>
            <a:pPr marL="285750" indent="-285750" algn="just">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Simulation Process: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MPU6050 to ESP32 Connection</a:t>
            </a:r>
          </a:p>
          <a:p>
            <a:pPr lvl="2" algn="just"/>
            <a:r>
              <a:rPr lang="en-US" dirty="0">
                <a:latin typeface="Times New Roman" panose="02020603050405020304" pitchFamily="18" charset="0"/>
                <a:cs typeface="Times New Roman" panose="02020603050405020304" pitchFamily="18" charset="0"/>
              </a:rPr>
              <a:t>The MPU6050 communicates with ESP32 using the I2C protocol. The SDA pin of MPU6050 connects to GPIO21 and SCL to GPIO22 of ESP32. Power pins VCC and GND are connected to 3.3V and GND respectively. The sensor continuously sends acceleration and gyroscope data to ESP32 for motion or fall detection.</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SIM800L to ESP32 Connection</a:t>
            </a:r>
          </a:p>
          <a:p>
            <a:pPr lvl="2" algn="just"/>
            <a:r>
              <a:rPr lang="en-US" dirty="0">
                <a:latin typeface="Times New Roman" panose="02020603050405020304" pitchFamily="18" charset="0"/>
                <a:cs typeface="Times New Roman" panose="02020603050405020304" pitchFamily="18" charset="0"/>
              </a:rPr>
              <a:t>The SIM800L GSM module uses the UART interface for communication. Its TX pin connects to RX (GPIO16) of ESP32 and RX to TX (GPIO17). Power is supplied through 3.7–4.2V (from a regulated source). ESP32 sends AT commands to the SIM800L to transmit SMS alerts during incidents.</a:t>
            </a:r>
          </a:p>
          <a:p>
            <a:pPr marL="742950" lvl="1"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GPS Module to ESP32 Connection</a:t>
            </a:r>
          </a:p>
          <a:p>
            <a:pPr lvl="2" algn="just"/>
            <a:r>
              <a:rPr lang="en-US" dirty="0">
                <a:latin typeface="Times New Roman" panose="02020603050405020304" pitchFamily="18" charset="0"/>
                <a:cs typeface="Times New Roman" panose="02020603050405020304" pitchFamily="18" charset="0"/>
              </a:rPr>
              <a:t>The GPS module (e.g., NEO-6M) also uses UART communication. The TX pin of the GPS connects to RX</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(GPIO26) of ESP32, while RX can be left unconnected or linked to TX (GPIO27) if needed. It’s powered through 3.3V and GND. ESP32 receives latitude and longitude data to track the user’s location in real-time.</a:t>
            </a:r>
          </a:p>
          <a:p>
            <a:pPr algn="just"/>
            <a:endParaRPr lang="en-IN" b="1" dirty="0"/>
          </a:p>
          <a:p>
            <a:pPr algn="just"/>
            <a:endParaRPr lang="en-IN" dirty="0"/>
          </a:p>
        </p:txBody>
      </p:sp>
    </p:spTree>
    <p:extLst>
      <p:ext uri="{BB962C8B-B14F-4D97-AF65-F5344CB8AC3E}">
        <p14:creationId xmlns:p14="http://schemas.microsoft.com/office/powerpoint/2010/main" val="3338650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39543-92D9-110F-DE15-BB405516D16A}"/>
            </a:ext>
          </a:extLst>
        </p:cNvPr>
        <p:cNvGrpSpPr/>
        <p:nvPr/>
      </p:nvGrpSpPr>
      <p:grpSpPr>
        <a:xfrm>
          <a:off x="0" y="0"/>
          <a:ext cx="0" cy="0"/>
          <a:chOff x="0" y="0"/>
          <a:chExt cx="0" cy="0"/>
        </a:xfrm>
      </p:grpSpPr>
      <p:sp>
        <p:nvSpPr>
          <p:cNvPr id="3074" name="Rectangle 7">
            <a:extLst>
              <a:ext uri="{FF2B5EF4-FFF2-40B4-BE49-F238E27FC236}">
                <a16:creationId xmlns:a16="http://schemas.microsoft.com/office/drawing/2014/main" id="{65824400-5CDD-B22D-FD2F-FE52A27432C3}"/>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 name="Title 1">
            <a:extLst>
              <a:ext uri="{FF2B5EF4-FFF2-40B4-BE49-F238E27FC236}">
                <a16:creationId xmlns:a16="http://schemas.microsoft.com/office/drawing/2014/main" id="{8C5674CB-8CE0-D435-8D6C-AE8822859D25}"/>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Simulation for MPU 6050</a:t>
            </a:r>
          </a:p>
        </p:txBody>
      </p:sp>
      <p:pic>
        <p:nvPicPr>
          <p:cNvPr id="3" name="Picture 2" descr="A computer screen shot of a computer&#10;&#10;AI-generated content may be incorrect.">
            <a:extLst>
              <a:ext uri="{FF2B5EF4-FFF2-40B4-BE49-F238E27FC236}">
                <a16:creationId xmlns:a16="http://schemas.microsoft.com/office/drawing/2014/main" id="{94878D01-0F69-A831-5E56-831FBD36A7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8275" y="872613"/>
            <a:ext cx="9775450" cy="5498690"/>
          </a:xfrm>
          <a:prstGeom prst="rect">
            <a:avLst/>
          </a:prstGeom>
        </p:spPr>
      </p:pic>
    </p:spTree>
    <p:extLst>
      <p:ext uri="{BB962C8B-B14F-4D97-AF65-F5344CB8AC3E}">
        <p14:creationId xmlns:p14="http://schemas.microsoft.com/office/powerpoint/2010/main" val="1256863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B65E9-3B1E-B9C3-34A3-4BF3797FB8BE}"/>
            </a:ext>
          </a:extLst>
        </p:cNvPr>
        <p:cNvGrpSpPr/>
        <p:nvPr/>
      </p:nvGrpSpPr>
      <p:grpSpPr>
        <a:xfrm>
          <a:off x="0" y="0"/>
          <a:ext cx="0" cy="0"/>
          <a:chOff x="0" y="0"/>
          <a:chExt cx="0" cy="0"/>
        </a:xfrm>
      </p:grpSpPr>
      <p:sp>
        <p:nvSpPr>
          <p:cNvPr id="3074" name="Rectangle 7">
            <a:extLst>
              <a:ext uri="{FF2B5EF4-FFF2-40B4-BE49-F238E27FC236}">
                <a16:creationId xmlns:a16="http://schemas.microsoft.com/office/drawing/2014/main" id="{593D114D-F1DD-0A22-00AC-6205D868A52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 name="Title 1">
            <a:extLst>
              <a:ext uri="{FF2B5EF4-FFF2-40B4-BE49-F238E27FC236}">
                <a16:creationId xmlns:a16="http://schemas.microsoft.com/office/drawing/2014/main" id="{CC9D65B4-CDBE-00B3-D954-F46C9EC9A6D5}"/>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Simulation for SIM800L</a:t>
            </a:r>
          </a:p>
        </p:txBody>
      </p:sp>
      <p:pic>
        <p:nvPicPr>
          <p:cNvPr id="3" name="Picture 2" descr="A computer screen shot of a computer&#10;&#10;AI-generated content may be incorrect.">
            <a:extLst>
              <a:ext uri="{FF2B5EF4-FFF2-40B4-BE49-F238E27FC236}">
                <a16:creationId xmlns:a16="http://schemas.microsoft.com/office/drawing/2014/main" id="{1B46BC69-EB9A-D2B4-D83F-AAC4DCE53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6349" y="895351"/>
            <a:ext cx="10058400" cy="5657850"/>
          </a:xfrm>
          <a:prstGeom prst="rect">
            <a:avLst/>
          </a:prstGeom>
        </p:spPr>
      </p:pic>
    </p:spTree>
    <p:extLst>
      <p:ext uri="{BB962C8B-B14F-4D97-AF65-F5344CB8AC3E}">
        <p14:creationId xmlns:p14="http://schemas.microsoft.com/office/powerpoint/2010/main" val="1766785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2A7D1-C0C1-004A-8C87-3C94FE2F3286}"/>
            </a:ext>
          </a:extLst>
        </p:cNvPr>
        <p:cNvGrpSpPr/>
        <p:nvPr/>
      </p:nvGrpSpPr>
      <p:grpSpPr>
        <a:xfrm>
          <a:off x="0" y="0"/>
          <a:ext cx="0" cy="0"/>
          <a:chOff x="0" y="0"/>
          <a:chExt cx="0" cy="0"/>
        </a:xfrm>
      </p:grpSpPr>
      <p:sp>
        <p:nvSpPr>
          <p:cNvPr id="3074" name="Rectangle 7">
            <a:extLst>
              <a:ext uri="{FF2B5EF4-FFF2-40B4-BE49-F238E27FC236}">
                <a16:creationId xmlns:a16="http://schemas.microsoft.com/office/drawing/2014/main" id="{45FABE0B-26BB-B8B3-784B-FCFC36CD57C1}"/>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 name="Title 1">
            <a:extLst>
              <a:ext uri="{FF2B5EF4-FFF2-40B4-BE49-F238E27FC236}">
                <a16:creationId xmlns:a16="http://schemas.microsoft.com/office/drawing/2014/main" id="{B8259AB8-473F-AC09-41CD-D703CE328FC1}"/>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Simulation for GPS </a:t>
            </a:r>
          </a:p>
        </p:txBody>
      </p:sp>
      <p:pic>
        <p:nvPicPr>
          <p:cNvPr id="3" name="Picture 2">
            <a:extLst>
              <a:ext uri="{FF2B5EF4-FFF2-40B4-BE49-F238E27FC236}">
                <a16:creationId xmlns:a16="http://schemas.microsoft.com/office/drawing/2014/main" id="{71234FF5-1317-2A09-F02F-61A121F8C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561" y="798870"/>
            <a:ext cx="10107561" cy="5685503"/>
          </a:xfrm>
          <a:prstGeom prst="rect">
            <a:avLst/>
          </a:prstGeom>
        </p:spPr>
      </p:pic>
    </p:spTree>
    <p:extLst>
      <p:ext uri="{BB962C8B-B14F-4D97-AF65-F5344CB8AC3E}">
        <p14:creationId xmlns:p14="http://schemas.microsoft.com/office/powerpoint/2010/main" val="3478581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B405162-C0AD-4126-B6A1-B8D65E97D6C2}"/>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7E159D60-39F0-4E35-8404-2C5CC3FF5B1D}"/>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100" b="1" dirty="0">
                <a:latin typeface="Times New Roman" pitchFamily="18" charset="0"/>
                <a:cs typeface="Times New Roman" pitchFamily="18" charset="0"/>
              </a:rPr>
              <a:t>Objectives </a:t>
            </a:r>
          </a:p>
        </p:txBody>
      </p:sp>
      <p:sp>
        <p:nvSpPr>
          <p:cNvPr id="2" name="TextBox 1">
            <a:extLst>
              <a:ext uri="{FF2B5EF4-FFF2-40B4-BE49-F238E27FC236}">
                <a16:creationId xmlns:a16="http://schemas.microsoft.com/office/drawing/2014/main" id="{BB80FCAD-2215-21CD-AD85-024F87295269}"/>
              </a:ext>
            </a:extLst>
          </p:cNvPr>
          <p:cNvSpPr txBox="1"/>
          <p:nvPr/>
        </p:nvSpPr>
        <p:spPr>
          <a:xfrm>
            <a:off x="929640" y="948690"/>
            <a:ext cx="10332720" cy="5909310"/>
          </a:xfrm>
          <a:prstGeom prst="rect">
            <a:avLst/>
          </a:prstGeom>
          <a:noFill/>
        </p:spPr>
        <p:txBody>
          <a:bodyPr wrap="square" rtlCol="0">
            <a:spAutoFit/>
          </a:bodyPr>
          <a:lstStyle/>
          <a:p>
            <a:pPr algn="just">
              <a:buNone/>
            </a:pPr>
            <a:r>
              <a:rPr lang="en-US" dirty="0">
                <a:latin typeface="Times New Roman" panose="02020603050405020304" pitchFamily="18" charset="0"/>
                <a:cs typeface="Times New Roman" panose="02020603050405020304" pitchFamily="18" charset="0"/>
              </a:rPr>
              <a:t>The primary aim of this project is to </a:t>
            </a:r>
            <a:r>
              <a:rPr lang="en-US" b="1" dirty="0">
                <a:latin typeface="Times New Roman" panose="02020603050405020304" pitchFamily="18" charset="0"/>
                <a:cs typeface="Times New Roman" panose="02020603050405020304" pitchFamily="18" charset="0"/>
              </a:rPr>
              <a:t>design and implement a low-cost wearable device</a:t>
            </a:r>
            <a:r>
              <a:rPr lang="en-US" dirty="0">
                <a:latin typeface="Times New Roman" panose="02020603050405020304" pitchFamily="18" charset="0"/>
                <a:cs typeface="Times New Roman" panose="02020603050405020304" pitchFamily="18" charset="0"/>
              </a:rPr>
              <a:t> capable of detecting accidents, providing real-time alerts, and assisting in safe navigation. The specific objectives are:</a:t>
            </a:r>
          </a:p>
          <a:p>
            <a:pPr algn="just">
              <a:buFont typeface="+mj-lt"/>
              <a:buAutoNum type="arabicPeriod"/>
            </a:pPr>
            <a:r>
              <a:rPr lang="en-US" b="1" dirty="0">
                <a:latin typeface="Times New Roman" panose="02020603050405020304" pitchFamily="18" charset="0"/>
                <a:cs typeface="Times New Roman" panose="02020603050405020304" pitchFamily="18" charset="0"/>
              </a:rPr>
              <a:t>Incident Detection using IMU (MPU-6050)</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Utilize accelerometer and gyroscope data to monitor the user’s body motion.</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Implement threshold-based fall detection algorithm to identify sudden impacts, free-fall, or abnormal posture changes.</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Ensure accuracy by reducing false alarms through motion pattern analysis.</a:t>
            </a:r>
          </a:p>
          <a:p>
            <a:pPr algn="just">
              <a:buFont typeface="+mj-lt"/>
              <a:buAutoNum type="arabicPeriod"/>
            </a:pPr>
            <a:r>
              <a:rPr lang="en-US" b="1" dirty="0">
                <a:latin typeface="Times New Roman" panose="02020603050405020304" pitchFamily="18" charset="0"/>
                <a:cs typeface="Times New Roman" panose="02020603050405020304" pitchFamily="18" charset="0"/>
              </a:rPr>
              <a:t>GPS-Based Path Tracking</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Integrate a GPS module (NEO-6M) to record real-time location of the user.</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Log breadcrumb points for continuous path tracking.</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Enable a retracing feature so the user can safely return to the origin point after disorientation.</a:t>
            </a:r>
          </a:p>
          <a:p>
            <a:pPr algn="just">
              <a:buFont typeface="+mj-lt"/>
              <a:buAutoNum type="arabicPeriod"/>
            </a:pPr>
            <a:r>
              <a:rPr lang="en-US" b="1" dirty="0">
                <a:latin typeface="Times New Roman" panose="02020603050405020304" pitchFamily="18" charset="0"/>
                <a:cs typeface="Times New Roman" panose="02020603050405020304" pitchFamily="18" charset="0"/>
              </a:rPr>
              <a:t>Emergency Communication via GSM (SIM800L)</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Send an </a:t>
            </a:r>
            <a:r>
              <a:rPr lang="en-US" b="1" dirty="0">
                <a:latin typeface="Times New Roman" panose="02020603050405020304" pitchFamily="18" charset="0"/>
                <a:cs typeface="Times New Roman" panose="02020603050405020304" pitchFamily="18" charset="0"/>
              </a:rPr>
              <a:t>automated SMS alert</a:t>
            </a:r>
            <a:r>
              <a:rPr lang="en-US" dirty="0">
                <a:latin typeface="Times New Roman" panose="02020603050405020304" pitchFamily="18" charset="0"/>
                <a:cs typeface="Times New Roman" panose="02020603050405020304" pitchFamily="18" charset="0"/>
              </a:rPr>
              <a:t> containing the accident information and live GPS coordinates to caregivers or family members.</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Ensure quick communication without relying on Wi-Fi or internet (uses GSM 2G network).</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Improve reliability by supporting multiple stored phone numbers for alerts.</a:t>
            </a:r>
          </a:p>
          <a:p>
            <a:pPr algn="just">
              <a:buFont typeface="+mj-lt"/>
              <a:buAutoNum type="arabicPeriod"/>
            </a:pPr>
            <a:r>
              <a:rPr lang="en-US" b="1" dirty="0">
                <a:latin typeface="Times New Roman" panose="02020603050405020304" pitchFamily="18" charset="0"/>
                <a:cs typeface="Times New Roman" panose="02020603050405020304" pitchFamily="18" charset="0"/>
              </a:rPr>
              <a:t>User Interaction and Alerts</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Provide </a:t>
            </a:r>
            <a:r>
              <a:rPr lang="en-US" b="1" dirty="0">
                <a:latin typeface="Times New Roman" panose="02020603050405020304" pitchFamily="18" charset="0"/>
                <a:cs typeface="Times New Roman" panose="02020603050405020304" pitchFamily="18" charset="0"/>
              </a:rPr>
              <a:t>local feedback</a:t>
            </a:r>
            <a:r>
              <a:rPr lang="en-US" dirty="0">
                <a:latin typeface="Times New Roman" panose="02020603050405020304" pitchFamily="18" charset="0"/>
                <a:cs typeface="Times New Roman" panose="02020603050405020304" pitchFamily="18" charset="0"/>
              </a:rPr>
              <a:t> using a buzzer, vibration motor, and LED indicators for immediate awareness.</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Include an </a:t>
            </a:r>
            <a:r>
              <a:rPr lang="en-US" b="1" dirty="0">
                <a:latin typeface="Times New Roman" panose="02020603050405020304" pitchFamily="18" charset="0"/>
                <a:cs typeface="Times New Roman" panose="02020603050405020304" pitchFamily="18" charset="0"/>
              </a:rPr>
              <a:t>SOS button</a:t>
            </a:r>
            <a:r>
              <a:rPr lang="en-US" dirty="0">
                <a:latin typeface="Times New Roman" panose="02020603050405020304" pitchFamily="18" charset="0"/>
                <a:cs typeface="Times New Roman" panose="02020603050405020304" pitchFamily="18" charset="0"/>
              </a:rPr>
              <a:t> for manual emergency triggering.</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Ensure device is lightweight, portable, and easy to wear.</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0A1CD-91A9-AA29-D605-6CC83836C0A5}"/>
            </a:ext>
          </a:extLst>
        </p:cNvPr>
        <p:cNvGrpSpPr/>
        <p:nvPr/>
      </p:nvGrpSpPr>
      <p:grpSpPr>
        <a:xfrm>
          <a:off x="0" y="0"/>
          <a:ext cx="0" cy="0"/>
          <a:chOff x="0" y="0"/>
          <a:chExt cx="0" cy="0"/>
        </a:xfrm>
      </p:grpSpPr>
      <p:sp>
        <p:nvSpPr>
          <p:cNvPr id="7170" name="Rectangle 7">
            <a:extLst>
              <a:ext uri="{FF2B5EF4-FFF2-40B4-BE49-F238E27FC236}">
                <a16:creationId xmlns:a16="http://schemas.microsoft.com/office/drawing/2014/main" id="{CD5E5DCD-01B5-999C-66DD-344440B17D59}"/>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EA144E8E-8249-F665-DAC1-0D3DF1C81F97}"/>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100" b="1" dirty="0">
                <a:latin typeface="Times New Roman" pitchFamily="18" charset="0"/>
                <a:cs typeface="Times New Roman" pitchFamily="18" charset="0"/>
              </a:rPr>
              <a:t>Objectives </a:t>
            </a:r>
          </a:p>
        </p:txBody>
      </p:sp>
      <p:sp>
        <p:nvSpPr>
          <p:cNvPr id="2" name="TextBox 1">
            <a:extLst>
              <a:ext uri="{FF2B5EF4-FFF2-40B4-BE49-F238E27FC236}">
                <a16:creationId xmlns:a16="http://schemas.microsoft.com/office/drawing/2014/main" id="{506DC561-2836-CC72-74F5-DCF37663EC84}"/>
              </a:ext>
            </a:extLst>
          </p:cNvPr>
          <p:cNvSpPr txBox="1"/>
          <p:nvPr/>
        </p:nvSpPr>
        <p:spPr>
          <a:xfrm>
            <a:off x="1031240" y="1720840"/>
            <a:ext cx="10332720" cy="3416320"/>
          </a:xfrm>
          <a:prstGeom prst="rect">
            <a:avLst/>
          </a:prstGeom>
          <a:noFill/>
        </p:spPr>
        <p:txBody>
          <a:bodyPr wrap="square" rtlCol="0">
            <a:spAutoFit/>
          </a:bodyPr>
          <a:lstStyle/>
          <a:p>
            <a:pPr algn="just"/>
            <a:r>
              <a:rPr lang="en-US" b="1" dirty="0"/>
              <a:t>5</a:t>
            </a:r>
            <a:r>
              <a:rPr lang="en-US" b="1" dirty="0">
                <a:latin typeface="Times New Roman" panose="02020603050405020304" pitchFamily="18" charset="0"/>
                <a:cs typeface="Times New Roman" panose="02020603050405020304" pitchFamily="18" charset="0"/>
              </a:rPr>
              <a:t>.Power Management and Portability</a:t>
            </a:r>
            <a:endParaRPr lang="en-US" dirty="0">
              <a:latin typeface="Times New Roman" panose="02020603050405020304" pitchFamily="18" charset="0"/>
              <a:cs typeface="Times New Roman" panose="02020603050405020304" pitchFamily="18" charset="0"/>
            </a:endParaRP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Use a rechargeable Li-ion battery with TP4056 charging and voltage regulation circuit.</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Optimize the system for low power consumption to extend battery life.</a:t>
            </a:r>
          </a:p>
          <a:p>
            <a:pPr marL="742950" lvl="1" indent="-285750" algn="just">
              <a:buFont typeface="+mj-lt"/>
              <a:buAutoNum type="arabicPeriod"/>
            </a:pPr>
            <a:r>
              <a:rPr lang="en-US" dirty="0">
                <a:latin typeface="Times New Roman" panose="02020603050405020304" pitchFamily="18" charset="0"/>
                <a:cs typeface="Times New Roman" panose="02020603050405020304" pitchFamily="18" charset="0"/>
              </a:rPr>
              <a:t>Make the device compact and suitable for daily use.</a:t>
            </a:r>
          </a:p>
          <a:p>
            <a:pPr lvl="1" algn="just"/>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Beyond these objectives, the project also focuses on enhancing the </a:t>
            </a:r>
            <a:r>
              <a:rPr lang="en-US" b="1" dirty="0">
                <a:latin typeface="Times New Roman" panose="02020603050405020304" pitchFamily="18" charset="0"/>
                <a:cs typeface="Times New Roman" panose="02020603050405020304" pitchFamily="18" charset="0"/>
              </a:rPr>
              <a:t>practical usability</a:t>
            </a:r>
            <a:r>
              <a:rPr lang="en-US" dirty="0">
                <a:latin typeface="Times New Roman" panose="02020603050405020304" pitchFamily="18" charset="0"/>
                <a:cs typeface="Times New Roman" panose="02020603050405020304" pitchFamily="18" charset="0"/>
              </a:rPr>
              <a:t> of the device. By combining sensing, communication, and navigation features into a single wearable system, it aims to provide a holistic solution for personal safety. The integration of IoT concepts ensures that the device not only detects accidents but also responds intelligently by transmitting real-time data to caregivers. This approach bridges the gap between conventional fall detectors and modern smart healthcare systems, offering an affordable and reliable alternative for elderly care and patient monitoring</a:t>
            </a:r>
            <a:r>
              <a:rPr lang="en-US" dirty="0"/>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444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82B82BED-C365-4D28-9F99-51A25B2B51A2}"/>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3" name="Title 1">
            <a:extLst>
              <a:ext uri="{FF2B5EF4-FFF2-40B4-BE49-F238E27FC236}">
                <a16:creationId xmlns:a16="http://schemas.microsoft.com/office/drawing/2014/main" id="{67E07E29-9931-4DEF-B898-F182CEEE9394}"/>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Methodology with Block/Layout Diagram</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0545" y="639762"/>
            <a:ext cx="10377055" cy="62182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B7568-005F-0BCF-D4A4-741802199606}"/>
            </a:ext>
          </a:extLst>
        </p:cNvPr>
        <p:cNvGrpSpPr/>
        <p:nvPr/>
      </p:nvGrpSpPr>
      <p:grpSpPr>
        <a:xfrm>
          <a:off x="0" y="0"/>
          <a:ext cx="0" cy="0"/>
          <a:chOff x="0" y="0"/>
          <a:chExt cx="0" cy="0"/>
        </a:xfrm>
      </p:grpSpPr>
      <p:sp>
        <p:nvSpPr>
          <p:cNvPr id="3074" name="Rectangle 7">
            <a:extLst>
              <a:ext uri="{FF2B5EF4-FFF2-40B4-BE49-F238E27FC236}">
                <a16:creationId xmlns:a16="http://schemas.microsoft.com/office/drawing/2014/main" id="{8FE9BF26-4D8A-F374-6EEB-EC1A13D7A571}"/>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 name="Title 1">
            <a:extLst>
              <a:ext uri="{FF2B5EF4-FFF2-40B4-BE49-F238E27FC236}">
                <a16:creationId xmlns:a16="http://schemas.microsoft.com/office/drawing/2014/main" id="{BA85F5AC-6BB5-9E99-73B5-89C276E177B3}"/>
              </a:ext>
            </a:extLst>
          </p:cNvPr>
          <p:cNvSpPr txBox="1">
            <a:spLocks/>
          </p:cNvSpPr>
          <p:nvPr/>
        </p:nvSpPr>
        <p:spPr bwMode="auto">
          <a:xfrm>
            <a:off x="0" y="0"/>
            <a:ext cx="12192000" cy="639763"/>
          </a:xfrm>
          <a:prstGeom prst="rect">
            <a:avLst/>
          </a:prstGeom>
          <a:solidFill>
            <a:schemeClr val="accent2"/>
          </a:solidFill>
          <a:ln>
            <a:solidFill>
              <a:schemeClr val="tx1"/>
            </a:solidFill>
          </a:ln>
        </p:spPr>
        <p:txBody>
          <a:bodyPr anchor="ctr">
            <a:normAutofit fontScale="97500"/>
          </a:bodyPr>
          <a:lstStyle>
            <a:lvl1pPr algn="ctr" rtl="0" eaLnBrk="0" fontAlgn="base" hangingPunct="0">
              <a:lnSpc>
                <a:spcPct val="90000"/>
              </a:lnSpc>
              <a:spcBef>
                <a:spcPct val="0"/>
              </a:spcBef>
              <a:spcAft>
                <a:spcPct val="0"/>
              </a:spcAft>
              <a:defRPr sz="60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n-US" sz="3200" b="1" dirty="0">
                <a:latin typeface="Times New Roman" pitchFamily="18" charset="0"/>
                <a:cs typeface="Times New Roman" pitchFamily="18" charset="0"/>
              </a:rPr>
              <a:t>Components Prices  </a:t>
            </a:r>
          </a:p>
        </p:txBody>
      </p:sp>
      <p:graphicFrame>
        <p:nvGraphicFramePr>
          <p:cNvPr id="2" name="Table 1">
            <a:extLst>
              <a:ext uri="{FF2B5EF4-FFF2-40B4-BE49-F238E27FC236}">
                <a16:creationId xmlns:a16="http://schemas.microsoft.com/office/drawing/2014/main" id="{D1697841-111A-0F78-FC5B-6E45899DC287}"/>
              </a:ext>
            </a:extLst>
          </p:cNvPr>
          <p:cNvGraphicFramePr>
            <a:graphicFrameLocks noGrp="1"/>
          </p:cNvGraphicFramePr>
          <p:nvPr>
            <p:extLst>
              <p:ext uri="{D42A27DB-BD31-4B8C-83A1-F6EECF244321}">
                <p14:modId xmlns:p14="http://schemas.microsoft.com/office/powerpoint/2010/main" val="2570421134"/>
              </p:ext>
            </p:extLst>
          </p:nvPr>
        </p:nvGraphicFramePr>
        <p:xfrm>
          <a:off x="2032000" y="1358762"/>
          <a:ext cx="8128000" cy="3708400"/>
        </p:xfrm>
        <a:graphic>
          <a:graphicData uri="http://schemas.openxmlformats.org/drawingml/2006/table">
            <a:tbl>
              <a:tblPr firstRow="1" bandRow="1">
                <a:tableStyleId>{073A0DAA-6AF3-43AB-8588-CEC1D06C72B9}</a:tableStyleId>
              </a:tblPr>
              <a:tblGrid>
                <a:gridCol w="4064000">
                  <a:extLst>
                    <a:ext uri="{9D8B030D-6E8A-4147-A177-3AD203B41FA5}">
                      <a16:colId xmlns:a16="http://schemas.microsoft.com/office/drawing/2014/main" val="2761432232"/>
                    </a:ext>
                  </a:extLst>
                </a:gridCol>
                <a:gridCol w="4064000">
                  <a:extLst>
                    <a:ext uri="{9D8B030D-6E8A-4147-A177-3AD203B41FA5}">
                      <a16:colId xmlns:a16="http://schemas.microsoft.com/office/drawing/2014/main" val="3400072999"/>
                    </a:ext>
                  </a:extLst>
                </a:gridCol>
              </a:tblGrid>
              <a:tr h="370840">
                <a:tc>
                  <a:txBody>
                    <a:bodyPr/>
                    <a:lstStyle/>
                    <a:p>
                      <a:pPr algn="ctr"/>
                      <a:r>
                        <a:rPr lang="en-IN" dirty="0"/>
                        <a:t>Component Name </a:t>
                      </a:r>
                    </a:p>
                  </a:txBody>
                  <a:tcPr/>
                </a:tc>
                <a:tc>
                  <a:txBody>
                    <a:bodyPr/>
                    <a:lstStyle/>
                    <a:p>
                      <a:pPr algn="ctr"/>
                      <a:r>
                        <a:rPr lang="en-IN" dirty="0"/>
                        <a:t>Price</a:t>
                      </a:r>
                    </a:p>
                  </a:txBody>
                  <a:tcPr/>
                </a:tc>
                <a:extLst>
                  <a:ext uri="{0D108BD9-81ED-4DB2-BD59-A6C34878D82A}">
                    <a16:rowId xmlns:a16="http://schemas.microsoft.com/office/drawing/2014/main" val="523052176"/>
                  </a:ext>
                </a:extLst>
              </a:tr>
              <a:tr h="370840">
                <a:tc>
                  <a:txBody>
                    <a:bodyPr/>
                    <a:lstStyle/>
                    <a:p>
                      <a:r>
                        <a:rPr lang="en-IN" dirty="0"/>
                        <a:t>ESP 32</a:t>
                      </a:r>
                    </a:p>
                  </a:txBody>
                  <a:tcPr/>
                </a:tc>
                <a:tc>
                  <a:txBody>
                    <a:bodyPr/>
                    <a:lstStyle/>
                    <a:p>
                      <a:r>
                        <a:rPr lang="en-IN" dirty="0"/>
                        <a:t>400-600rs</a:t>
                      </a:r>
                    </a:p>
                  </a:txBody>
                  <a:tcPr/>
                </a:tc>
                <a:extLst>
                  <a:ext uri="{0D108BD9-81ED-4DB2-BD59-A6C34878D82A}">
                    <a16:rowId xmlns:a16="http://schemas.microsoft.com/office/drawing/2014/main" val="2377199454"/>
                  </a:ext>
                </a:extLst>
              </a:tr>
              <a:tr h="370840">
                <a:tc>
                  <a:txBody>
                    <a:bodyPr/>
                    <a:lstStyle/>
                    <a:p>
                      <a:r>
                        <a:rPr lang="en-IN" dirty="0"/>
                        <a:t>MPU 6050 </a:t>
                      </a:r>
                    </a:p>
                  </a:txBody>
                  <a:tcPr/>
                </a:tc>
                <a:tc>
                  <a:txBody>
                    <a:bodyPr/>
                    <a:lstStyle/>
                    <a:p>
                      <a:r>
                        <a:rPr lang="en-IN" dirty="0"/>
                        <a:t>150-200rs</a:t>
                      </a:r>
                    </a:p>
                  </a:txBody>
                  <a:tcPr/>
                </a:tc>
                <a:extLst>
                  <a:ext uri="{0D108BD9-81ED-4DB2-BD59-A6C34878D82A}">
                    <a16:rowId xmlns:a16="http://schemas.microsoft.com/office/drawing/2014/main" val="1817001786"/>
                  </a:ext>
                </a:extLst>
              </a:tr>
              <a:tr h="370840">
                <a:tc>
                  <a:txBody>
                    <a:bodyPr/>
                    <a:lstStyle/>
                    <a:p>
                      <a:r>
                        <a:rPr lang="en-IN" dirty="0"/>
                        <a:t>SIM 800L </a:t>
                      </a:r>
                    </a:p>
                  </a:txBody>
                  <a:tcPr/>
                </a:tc>
                <a:tc>
                  <a:txBody>
                    <a:bodyPr/>
                    <a:lstStyle/>
                    <a:p>
                      <a:r>
                        <a:rPr lang="en-IN" dirty="0"/>
                        <a:t>400-600rs</a:t>
                      </a:r>
                    </a:p>
                  </a:txBody>
                  <a:tcPr/>
                </a:tc>
                <a:extLst>
                  <a:ext uri="{0D108BD9-81ED-4DB2-BD59-A6C34878D82A}">
                    <a16:rowId xmlns:a16="http://schemas.microsoft.com/office/drawing/2014/main" val="2622558351"/>
                  </a:ext>
                </a:extLst>
              </a:tr>
              <a:tr h="370840">
                <a:tc>
                  <a:txBody>
                    <a:bodyPr/>
                    <a:lstStyle/>
                    <a:p>
                      <a:r>
                        <a:rPr lang="en-IN" dirty="0"/>
                        <a:t>GPS Module </a:t>
                      </a:r>
                    </a:p>
                  </a:txBody>
                  <a:tcPr/>
                </a:tc>
                <a:tc>
                  <a:txBody>
                    <a:bodyPr/>
                    <a:lstStyle/>
                    <a:p>
                      <a:r>
                        <a:rPr lang="en-IN" dirty="0"/>
                        <a:t>400-600rs</a:t>
                      </a:r>
                    </a:p>
                  </a:txBody>
                  <a:tcPr/>
                </a:tc>
                <a:extLst>
                  <a:ext uri="{0D108BD9-81ED-4DB2-BD59-A6C34878D82A}">
                    <a16:rowId xmlns:a16="http://schemas.microsoft.com/office/drawing/2014/main" val="4220194558"/>
                  </a:ext>
                </a:extLst>
              </a:tr>
              <a:tr h="370840">
                <a:tc>
                  <a:txBody>
                    <a:bodyPr/>
                    <a:lstStyle/>
                    <a:p>
                      <a:r>
                        <a:rPr lang="en-IN" dirty="0"/>
                        <a:t>Li-on Battery</a:t>
                      </a:r>
                    </a:p>
                  </a:txBody>
                  <a:tcPr/>
                </a:tc>
                <a:tc>
                  <a:txBody>
                    <a:bodyPr/>
                    <a:lstStyle/>
                    <a:p>
                      <a:r>
                        <a:rPr lang="en-IN" dirty="0"/>
                        <a:t>250-400rs</a:t>
                      </a:r>
                    </a:p>
                  </a:txBody>
                  <a:tcPr/>
                </a:tc>
                <a:extLst>
                  <a:ext uri="{0D108BD9-81ED-4DB2-BD59-A6C34878D82A}">
                    <a16:rowId xmlns:a16="http://schemas.microsoft.com/office/drawing/2014/main" val="2399752938"/>
                  </a:ext>
                </a:extLst>
              </a:tr>
              <a:tr h="370840">
                <a:tc>
                  <a:txBody>
                    <a:bodyPr/>
                    <a:lstStyle/>
                    <a:p>
                      <a:r>
                        <a:rPr lang="en-IN" dirty="0"/>
                        <a:t>TP4056 Charging Module</a:t>
                      </a:r>
                    </a:p>
                  </a:txBody>
                  <a:tcPr/>
                </a:tc>
                <a:tc>
                  <a:txBody>
                    <a:bodyPr/>
                    <a:lstStyle/>
                    <a:p>
                      <a:r>
                        <a:rPr lang="en-IN" dirty="0"/>
                        <a:t>40-60rs</a:t>
                      </a:r>
                    </a:p>
                  </a:txBody>
                  <a:tcPr/>
                </a:tc>
                <a:extLst>
                  <a:ext uri="{0D108BD9-81ED-4DB2-BD59-A6C34878D82A}">
                    <a16:rowId xmlns:a16="http://schemas.microsoft.com/office/drawing/2014/main" val="4089323882"/>
                  </a:ext>
                </a:extLst>
              </a:tr>
              <a:tr h="370840">
                <a:tc>
                  <a:txBody>
                    <a:bodyPr/>
                    <a:lstStyle/>
                    <a:p>
                      <a:r>
                        <a:rPr lang="en-IN" dirty="0"/>
                        <a:t>Slide Switch and Battery Connector</a:t>
                      </a:r>
                    </a:p>
                  </a:txBody>
                  <a:tcPr/>
                </a:tc>
                <a:tc>
                  <a:txBody>
                    <a:bodyPr/>
                    <a:lstStyle/>
                    <a:p>
                      <a:r>
                        <a:rPr lang="en-IN" dirty="0"/>
                        <a:t>200rs</a:t>
                      </a:r>
                    </a:p>
                  </a:txBody>
                  <a:tcPr/>
                </a:tc>
                <a:extLst>
                  <a:ext uri="{0D108BD9-81ED-4DB2-BD59-A6C34878D82A}">
                    <a16:rowId xmlns:a16="http://schemas.microsoft.com/office/drawing/2014/main" val="1844167903"/>
                  </a:ext>
                </a:extLst>
              </a:tr>
              <a:tr h="370840">
                <a:tc>
                  <a:txBody>
                    <a:bodyPr/>
                    <a:lstStyle/>
                    <a:p>
                      <a:r>
                        <a:rPr lang="en-IN" dirty="0"/>
                        <a:t>Buzzer , LED , Resistors </a:t>
                      </a:r>
                    </a:p>
                  </a:txBody>
                  <a:tcPr/>
                </a:tc>
                <a:tc>
                  <a:txBody>
                    <a:bodyPr/>
                    <a:lstStyle/>
                    <a:p>
                      <a:r>
                        <a:rPr lang="en-IN" dirty="0"/>
                        <a:t>200rs</a:t>
                      </a:r>
                    </a:p>
                  </a:txBody>
                  <a:tcPr/>
                </a:tc>
                <a:extLst>
                  <a:ext uri="{0D108BD9-81ED-4DB2-BD59-A6C34878D82A}">
                    <a16:rowId xmlns:a16="http://schemas.microsoft.com/office/drawing/2014/main" val="2102113497"/>
                  </a:ext>
                </a:extLst>
              </a:tr>
              <a:tr h="370840">
                <a:tc>
                  <a:txBody>
                    <a:bodyPr/>
                    <a:lstStyle/>
                    <a:p>
                      <a:r>
                        <a:rPr lang="en-IN" dirty="0"/>
                        <a:t>Total Approx</a:t>
                      </a:r>
                    </a:p>
                  </a:txBody>
                  <a:tcPr/>
                </a:tc>
                <a:tc>
                  <a:txBody>
                    <a:bodyPr/>
                    <a:lstStyle/>
                    <a:p>
                      <a:r>
                        <a:rPr lang="en-IN" dirty="0"/>
                        <a:t>2000-2500rs</a:t>
                      </a:r>
                    </a:p>
                  </a:txBody>
                  <a:tcPr/>
                </a:tc>
                <a:extLst>
                  <a:ext uri="{0D108BD9-81ED-4DB2-BD59-A6C34878D82A}">
                    <a16:rowId xmlns:a16="http://schemas.microsoft.com/office/drawing/2014/main" val="2208543002"/>
                  </a:ext>
                </a:extLst>
              </a:tr>
            </a:tbl>
          </a:graphicData>
        </a:graphic>
      </p:graphicFrame>
    </p:spTree>
    <p:extLst>
      <p:ext uri="{BB962C8B-B14F-4D97-AF65-F5344CB8AC3E}">
        <p14:creationId xmlns:p14="http://schemas.microsoft.com/office/powerpoint/2010/main" val="1859899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FD3FA55D-E212-440E-AB98-394F3BB5B0E7}"/>
              </a:ext>
            </a:extLst>
          </p:cNvPr>
          <p:cNvSpPr>
            <a:spLocks noChangeArrowheads="1"/>
          </p:cNvSpPr>
          <p:nvPr/>
        </p:nvSpPr>
        <p:spPr bwMode="auto">
          <a:xfrm>
            <a:off x="0" y="0"/>
            <a:ext cx="1219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IN" altLang="en-US" sz="1800"/>
          </a:p>
        </p:txBody>
      </p:sp>
      <p:sp>
        <p:nvSpPr>
          <p:cNvPr id="12291" name="Title 1">
            <a:extLst>
              <a:ext uri="{FF2B5EF4-FFF2-40B4-BE49-F238E27FC236}">
                <a16:creationId xmlns:a16="http://schemas.microsoft.com/office/drawing/2014/main" id="{2FD22BAF-7E20-423B-92D7-B4F20785CA3F}"/>
              </a:ext>
            </a:extLst>
          </p:cNvPr>
          <p:cNvSpPr txBox="1">
            <a:spLocks/>
          </p:cNvSpPr>
          <p:nvPr/>
        </p:nvSpPr>
        <p:spPr bwMode="auto">
          <a:xfrm>
            <a:off x="425450" y="457200"/>
            <a:ext cx="113411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auto">
              <a:spcBef>
                <a:spcPts val="0"/>
              </a:spcBef>
              <a:spcAft>
                <a:spcPts val="0"/>
              </a:spcAft>
              <a:buFontTx/>
              <a:buNone/>
              <a:defRPr/>
            </a:pPr>
            <a:r>
              <a:rPr lang="en-US" altLang="en-US" sz="4800" b="1" dirty="0">
                <a:ln w="3175"/>
                <a:solidFill>
                  <a:schemeClr val="tx1">
                    <a:lumMod val="85000"/>
                    <a:lumOff val="15000"/>
                  </a:schemeClr>
                </a:solidFill>
                <a:latin typeface="Times New Roman" panose="02020603050405020304" pitchFamily="18" charset="0"/>
                <a:cs typeface="Times New Roman" panose="02020603050405020304" pitchFamily="18" charset="0"/>
              </a:rPr>
              <a:t>Acknowledgement</a:t>
            </a:r>
          </a:p>
        </p:txBody>
      </p:sp>
      <p:sp>
        <p:nvSpPr>
          <p:cNvPr id="9" name="Rectangle 8">
            <a:extLst>
              <a:ext uri="{FF2B5EF4-FFF2-40B4-BE49-F238E27FC236}">
                <a16:creationId xmlns:a16="http://schemas.microsoft.com/office/drawing/2014/main" id="{75CB057C-CB42-4A3C-BB20-DC3BBBD02709}"/>
              </a:ext>
            </a:extLst>
          </p:cNvPr>
          <p:cNvSpPr/>
          <p:nvPr/>
        </p:nvSpPr>
        <p:spPr>
          <a:xfrm>
            <a:off x="3440113" y="4995863"/>
            <a:ext cx="8532812" cy="1200150"/>
          </a:xfrm>
          <a:prstGeom prst="rect">
            <a:avLst/>
          </a:prstGeom>
        </p:spPr>
        <p:txBody>
          <a:bodyPr>
            <a:spAutoFit/>
          </a:bodyPr>
          <a:lstStyle/>
          <a:p>
            <a:pPr algn="r" fontAlgn="auto">
              <a:spcBef>
                <a:spcPts val="0"/>
              </a:spcBef>
              <a:spcAft>
                <a:spcPts val="0"/>
              </a:spcAft>
              <a:defRPr/>
            </a:pPr>
            <a:r>
              <a:rPr lang="en-US" sz="7200" b="1" i="1" dirty="0">
                <a:ln w="3175"/>
                <a:solidFill>
                  <a:schemeClr val="tx1">
                    <a:lumMod val="85000"/>
                    <a:lumOff val="15000"/>
                  </a:schemeClr>
                </a:solidFill>
                <a:effectLst>
                  <a:outerShdw blurRad="50800" dist="39000" dir="5460000" algn="tl">
                    <a:srgbClr val="000000">
                      <a:alpha val="38000"/>
                    </a:srgbClr>
                  </a:outerShdw>
                </a:effectLst>
                <a:latin typeface="Bodoni MT" pitchFamily="18" charset="0"/>
                <a:cs typeface="+mn-cs"/>
              </a:rPr>
              <a:t>Thank you</a:t>
            </a:r>
            <a:endParaRPr lang="en-IN" sz="7200" b="1" i="1" dirty="0">
              <a:ln w="3175"/>
              <a:solidFill>
                <a:schemeClr val="tx1">
                  <a:lumMod val="85000"/>
                  <a:lumOff val="15000"/>
                </a:schemeClr>
              </a:solidFill>
              <a:effectLst>
                <a:outerShdw blurRad="50800" dist="39000" dir="5460000" algn="tl">
                  <a:srgbClr val="000000">
                    <a:alpha val="38000"/>
                  </a:srgbClr>
                </a:outerShdw>
              </a:effectLst>
              <a:latin typeface="Bodoni MT" pitchFamily="18" charset="0"/>
              <a:cs typeface="+mn-cs"/>
            </a:endParaRPr>
          </a:p>
        </p:txBody>
      </p:sp>
      <p:sp>
        <p:nvSpPr>
          <p:cNvPr id="2" name="TextBox 1"/>
          <p:cNvSpPr txBox="1"/>
          <p:nvPr/>
        </p:nvSpPr>
        <p:spPr>
          <a:xfrm>
            <a:off x="1911927" y="1822450"/>
            <a:ext cx="8368145" cy="230832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We would like to extend our sincere gratitude to those who have supported the conceptualization and planning of our project, </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IoT</a:t>
            </a:r>
            <a:r>
              <a:rPr lang="en-US" b="1" dirty="0">
                <a:latin typeface="Times New Roman" panose="02020603050405020304" pitchFamily="18" charset="0"/>
                <a:cs typeface="Times New Roman" panose="02020603050405020304" pitchFamily="18" charset="0"/>
              </a:rPr>
              <a:t>-Based Accident Detection and Path Tracking Device with GSM Alert.”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special note of thanks to our guide, </a:t>
            </a:r>
            <a:r>
              <a:rPr lang="en-US" b="1" dirty="0">
                <a:latin typeface="Times New Roman" panose="02020603050405020304" pitchFamily="18" charset="0"/>
                <a:cs typeface="Times New Roman" panose="02020603050405020304" pitchFamily="18" charset="0"/>
              </a:rPr>
              <a:t>Prof. Dr. M. S. Chavan</a:t>
            </a:r>
            <a:r>
              <a:rPr lang="en-US" dirty="0">
                <a:latin typeface="Times New Roman" panose="02020603050405020304" pitchFamily="18" charset="0"/>
                <a:cs typeface="Times New Roman" panose="02020603050405020304" pitchFamily="18" charset="0"/>
              </a:rPr>
              <a:t>, for his valuable </a:t>
            </a:r>
          </a:p>
          <a:p>
            <a:pPr algn="just"/>
            <a:r>
              <a:rPr lang="en-US" dirty="0">
                <a:latin typeface="Times New Roman" panose="02020603050405020304" pitchFamily="18" charset="0"/>
                <a:cs typeface="Times New Roman" panose="02020603050405020304" pitchFamily="18" charset="0"/>
              </a:rPr>
              <a:t>direction during the initial brainstorming phases. His expertise was instrumental in helping us refine our methodology and define a clear, achievable path forward.</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TotalTime>
  <Words>1037</Words>
  <Application>Microsoft Office PowerPoint</Application>
  <PresentationFormat>Widescreen</PresentationFormat>
  <Paragraphs>98</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Arial Black</vt:lpstr>
      <vt:lpstr>Bodoni MT</vt:lpstr>
      <vt:lpstr>Calibri</vt:lpstr>
      <vt:lpstr>Calibri Light</vt:lpstr>
      <vt:lpstr>Castellar</vt:lpstr>
      <vt:lpstr>Times New Roman</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Mohsin Iqbal Abdul Raheman Sheikh</dc:creator>
  <cp:lastModifiedBy>AKASH MEHERKAR</cp:lastModifiedBy>
  <cp:revision>28</cp:revision>
  <dcterms:created xsi:type="dcterms:W3CDTF">2025-08-09T04:47:41Z</dcterms:created>
  <dcterms:modified xsi:type="dcterms:W3CDTF">2025-11-07T05:01:00Z</dcterms:modified>
</cp:coreProperties>
</file>